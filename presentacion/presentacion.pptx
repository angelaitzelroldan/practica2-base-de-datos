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Cocomat Pro Heavy" charset="1" panose="00000A00000000000000"/>
      <p:regular r:id="rId25"/>
    </p:embeddedFont>
    <p:embeddedFont>
      <p:font typeface="Arimo Bold" charset="1" panose="020B0704020202020204"/>
      <p:regular r:id="rId26"/>
    </p:embeddedFont>
    <p:embeddedFont>
      <p:font typeface="Arimo" charset="1" panose="020B0604020202020204"/>
      <p:regular r:id="rId27"/>
    </p:embeddedFont>
    <p:embeddedFont>
      <p:font typeface="Cocomat Pro Bold" charset="1" panose="00000700000000000000"/>
      <p:regular r:id="rId28"/>
    </p:embeddedFont>
    <p:embeddedFont>
      <p:font typeface="Questrial" charset="1" panose="02000000000000000000"/>
      <p:regular r:id="rId29"/>
    </p:embeddedFont>
    <p:embeddedFont>
      <p:font typeface="Poppins Bold" charset="1" panose="00000800000000000000"/>
      <p:regular r:id="rId30"/>
    </p:embeddedFont>
    <p:embeddedFont>
      <p:font typeface="Proxima Nova Condensed Bold" charset="1" panose="02000506030000020004"/>
      <p:regular r:id="rId31"/>
    </p:embeddedFont>
    <p:embeddedFont>
      <p:font typeface="Cocomat Pro Bold Italics" charset="1" panose="000007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12" Target="../media/image53.png" Type="http://schemas.openxmlformats.org/officeDocument/2006/relationships/image"/><Relationship Id="rId13" Target="../media/image54.svg" Type="http://schemas.openxmlformats.org/officeDocument/2006/relationships/image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3B6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623726">
            <a:off x="1232485" y="757450"/>
            <a:ext cx="3621875" cy="2588215"/>
            <a:chOff x="0" y="0"/>
            <a:chExt cx="4829167" cy="3450953"/>
          </a:xfrm>
        </p:grpSpPr>
        <p:sp>
          <p:nvSpPr>
            <p:cNvPr name="Freeform 3" id="3"/>
            <p:cNvSpPr/>
            <p:nvPr/>
          </p:nvSpPr>
          <p:spPr>
            <a:xfrm flipH="false" flipV="false" rot="-76395">
              <a:off x="35082" y="191044"/>
              <a:ext cx="4620248" cy="3208973"/>
            </a:xfrm>
            <a:custGeom>
              <a:avLst/>
              <a:gdLst/>
              <a:ahLst/>
              <a:cxnLst/>
              <a:rect r="r" b="b" t="t" l="l"/>
              <a:pathLst>
                <a:path h="3208973" w="4620248">
                  <a:moveTo>
                    <a:pt x="0" y="0"/>
                  </a:moveTo>
                  <a:lnTo>
                    <a:pt x="4620249" y="0"/>
                  </a:lnTo>
                  <a:lnTo>
                    <a:pt x="4620249" y="3208972"/>
                  </a:lnTo>
                  <a:lnTo>
                    <a:pt x="0" y="3208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9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76395">
              <a:off x="173836" y="50936"/>
              <a:ext cx="4620248" cy="3208973"/>
            </a:xfrm>
            <a:custGeom>
              <a:avLst/>
              <a:gdLst/>
              <a:ahLst/>
              <a:cxnLst/>
              <a:rect r="r" b="b" t="t" l="l"/>
              <a:pathLst>
                <a:path h="3208973" w="4620248">
                  <a:moveTo>
                    <a:pt x="0" y="0"/>
                  </a:moveTo>
                  <a:lnTo>
                    <a:pt x="4620248" y="0"/>
                  </a:lnTo>
                  <a:lnTo>
                    <a:pt x="4620248" y="3208973"/>
                  </a:lnTo>
                  <a:lnTo>
                    <a:pt x="0" y="3208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212141">
            <a:off x="12720482" y="-460383"/>
            <a:ext cx="5567210" cy="5023882"/>
            <a:chOff x="0" y="0"/>
            <a:chExt cx="7422947" cy="6698509"/>
          </a:xfrm>
        </p:grpSpPr>
        <p:sp>
          <p:nvSpPr>
            <p:cNvPr name="Freeform 6" id="6"/>
            <p:cNvSpPr/>
            <p:nvPr/>
          </p:nvSpPr>
          <p:spPr>
            <a:xfrm flipH="false" flipV="false" rot="-3761409">
              <a:off x="1607288" y="365734"/>
              <a:ext cx="4268602" cy="6082205"/>
            </a:xfrm>
            <a:custGeom>
              <a:avLst/>
              <a:gdLst/>
              <a:ahLst/>
              <a:cxnLst/>
              <a:rect r="r" b="b" t="t" l="l"/>
              <a:pathLst>
                <a:path h="6082205" w="4268602">
                  <a:moveTo>
                    <a:pt x="0" y="0"/>
                  </a:moveTo>
                  <a:lnTo>
                    <a:pt x="4268602" y="0"/>
                  </a:lnTo>
                  <a:lnTo>
                    <a:pt x="4268602" y="6082205"/>
                  </a:lnTo>
                  <a:lnTo>
                    <a:pt x="0" y="6082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2999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3761409">
              <a:off x="1547057" y="250570"/>
              <a:ext cx="4268602" cy="6082205"/>
            </a:xfrm>
            <a:custGeom>
              <a:avLst/>
              <a:gdLst/>
              <a:ahLst/>
              <a:cxnLst/>
              <a:rect r="r" b="b" t="t" l="l"/>
              <a:pathLst>
                <a:path h="6082205" w="4268602">
                  <a:moveTo>
                    <a:pt x="0" y="0"/>
                  </a:moveTo>
                  <a:lnTo>
                    <a:pt x="4268602" y="0"/>
                  </a:lnTo>
                  <a:lnTo>
                    <a:pt x="4268602" y="6082205"/>
                  </a:lnTo>
                  <a:lnTo>
                    <a:pt x="0" y="6082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904081" y="3498791"/>
            <a:ext cx="6120792" cy="6066757"/>
            <a:chOff x="0" y="0"/>
            <a:chExt cx="8161057" cy="8089009"/>
          </a:xfrm>
        </p:grpSpPr>
        <p:sp>
          <p:nvSpPr>
            <p:cNvPr name="Freeform 9" id="9"/>
            <p:cNvSpPr/>
            <p:nvPr/>
          </p:nvSpPr>
          <p:spPr>
            <a:xfrm flipH="false" flipV="false" rot="-1099088">
              <a:off x="838492" y="838492"/>
              <a:ext cx="6361386" cy="6361386"/>
            </a:xfrm>
            <a:custGeom>
              <a:avLst/>
              <a:gdLst/>
              <a:ahLst/>
              <a:cxnLst/>
              <a:rect r="r" b="b" t="t" l="l"/>
              <a:pathLst>
                <a:path h="6361386" w="6361386">
                  <a:moveTo>
                    <a:pt x="0" y="0"/>
                  </a:moveTo>
                  <a:lnTo>
                    <a:pt x="6361386" y="0"/>
                  </a:lnTo>
                  <a:lnTo>
                    <a:pt x="6361386" y="6361386"/>
                  </a:lnTo>
                  <a:lnTo>
                    <a:pt x="0" y="6361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1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1099088">
              <a:off x="961179" y="889131"/>
              <a:ext cx="6361386" cy="6361386"/>
            </a:xfrm>
            <a:custGeom>
              <a:avLst/>
              <a:gdLst/>
              <a:ahLst/>
              <a:cxnLst/>
              <a:rect r="r" b="b" t="t" l="l"/>
              <a:pathLst>
                <a:path h="6361386" w="6361386">
                  <a:moveTo>
                    <a:pt x="0" y="0"/>
                  </a:moveTo>
                  <a:lnTo>
                    <a:pt x="6361386" y="0"/>
                  </a:lnTo>
                  <a:lnTo>
                    <a:pt x="6361386" y="6361387"/>
                  </a:lnTo>
                  <a:lnTo>
                    <a:pt x="0" y="6361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83913" y="7305536"/>
            <a:ext cx="2865598" cy="2247517"/>
            <a:chOff x="0" y="0"/>
            <a:chExt cx="3820797" cy="29966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16712"/>
              <a:ext cx="3762441" cy="2879978"/>
            </a:xfrm>
            <a:custGeom>
              <a:avLst/>
              <a:gdLst/>
              <a:ahLst/>
              <a:cxnLst/>
              <a:rect r="r" b="b" t="t" l="l"/>
              <a:pathLst>
                <a:path h="2879978" w="3762441">
                  <a:moveTo>
                    <a:pt x="0" y="0"/>
                  </a:moveTo>
                  <a:lnTo>
                    <a:pt x="3762441" y="0"/>
                  </a:lnTo>
                  <a:lnTo>
                    <a:pt x="3762441" y="2879978"/>
                  </a:lnTo>
                  <a:lnTo>
                    <a:pt x="0" y="2879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0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8356" y="0"/>
              <a:ext cx="3762441" cy="2879978"/>
            </a:xfrm>
            <a:custGeom>
              <a:avLst/>
              <a:gdLst/>
              <a:ahLst/>
              <a:cxnLst/>
              <a:rect r="r" b="b" t="t" l="l"/>
              <a:pathLst>
                <a:path h="2879978" w="3762441">
                  <a:moveTo>
                    <a:pt x="0" y="0"/>
                  </a:moveTo>
                  <a:lnTo>
                    <a:pt x="3762441" y="0"/>
                  </a:lnTo>
                  <a:lnTo>
                    <a:pt x="3762441" y="2879978"/>
                  </a:lnTo>
                  <a:lnTo>
                    <a:pt x="0" y="2879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293115" y="7845851"/>
            <a:ext cx="2949140" cy="1707203"/>
            <a:chOff x="0" y="0"/>
            <a:chExt cx="3932187" cy="2276270"/>
          </a:xfrm>
        </p:grpSpPr>
        <p:sp>
          <p:nvSpPr>
            <p:cNvPr name="Freeform 15" id="15"/>
            <p:cNvSpPr/>
            <p:nvPr/>
          </p:nvSpPr>
          <p:spPr>
            <a:xfrm flipH="true" flipV="false" rot="0">
              <a:off x="0" y="108616"/>
              <a:ext cx="3833472" cy="2167654"/>
            </a:xfrm>
            <a:custGeom>
              <a:avLst/>
              <a:gdLst/>
              <a:ahLst/>
              <a:cxnLst/>
              <a:rect r="r" b="b" t="t" l="l"/>
              <a:pathLst>
                <a:path h="2167654" w="3833472">
                  <a:moveTo>
                    <a:pt x="3833472" y="0"/>
                  </a:moveTo>
                  <a:lnTo>
                    <a:pt x="0" y="0"/>
                  </a:lnTo>
                  <a:lnTo>
                    <a:pt x="0" y="2167654"/>
                  </a:lnTo>
                  <a:lnTo>
                    <a:pt x="3833472" y="2167654"/>
                  </a:lnTo>
                  <a:lnTo>
                    <a:pt x="3833472" y="0"/>
                  </a:lnTo>
                  <a:close/>
                </a:path>
              </a:pathLst>
            </a:custGeom>
            <a:blipFill>
              <a:blip r:embed="rId18">
                <a:alphaModFix amt="32999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true" flipV="false" rot="0">
              <a:off x="98715" y="0"/>
              <a:ext cx="3833472" cy="2167654"/>
            </a:xfrm>
            <a:custGeom>
              <a:avLst/>
              <a:gdLst/>
              <a:ahLst/>
              <a:cxnLst/>
              <a:rect r="r" b="b" t="t" l="l"/>
              <a:pathLst>
                <a:path h="2167654" w="3833472">
                  <a:moveTo>
                    <a:pt x="3833472" y="0"/>
                  </a:moveTo>
                  <a:lnTo>
                    <a:pt x="0" y="0"/>
                  </a:lnTo>
                  <a:lnTo>
                    <a:pt x="0" y="2167654"/>
                  </a:lnTo>
                  <a:lnTo>
                    <a:pt x="3833472" y="2167654"/>
                  </a:lnTo>
                  <a:lnTo>
                    <a:pt x="3833472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-102807">
            <a:off x="14855073" y="4120439"/>
            <a:ext cx="3350720" cy="5548654"/>
            <a:chOff x="0" y="0"/>
            <a:chExt cx="4467627" cy="7398205"/>
          </a:xfrm>
        </p:grpSpPr>
        <p:sp>
          <p:nvSpPr>
            <p:cNvPr name="Freeform 18" id="18"/>
            <p:cNvSpPr/>
            <p:nvPr/>
          </p:nvSpPr>
          <p:spPr>
            <a:xfrm flipH="false" flipV="false" rot="-669603">
              <a:off x="637091" y="232887"/>
              <a:ext cx="3079033" cy="6884018"/>
            </a:xfrm>
            <a:custGeom>
              <a:avLst/>
              <a:gdLst/>
              <a:ahLst/>
              <a:cxnLst/>
              <a:rect r="r" b="b" t="t" l="l"/>
              <a:pathLst>
                <a:path h="6884018" w="3079033">
                  <a:moveTo>
                    <a:pt x="0" y="0"/>
                  </a:moveTo>
                  <a:lnTo>
                    <a:pt x="3079033" y="0"/>
                  </a:lnTo>
                  <a:lnTo>
                    <a:pt x="3079033" y="6884017"/>
                  </a:lnTo>
                  <a:lnTo>
                    <a:pt x="0" y="6884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35000"/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-669603">
              <a:off x="751503" y="281301"/>
              <a:ext cx="3079033" cy="6884018"/>
            </a:xfrm>
            <a:custGeom>
              <a:avLst/>
              <a:gdLst/>
              <a:ahLst/>
              <a:cxnLst/>
              <a:rect r="r" b="b" t="t" l="l"/>
              <a:pathLst>
                <a:path h="6884018" w="3079033">
                  <a:moveTo>
                    <a:pt x="0" y="0"/>
                  </a:moveTo>
                  <a:lnTo>
                    <a:pt x="3079034" y="0"/>
                  </a:lnTo>
                  <a:lnTo>
                    <a:pt x="3079034" y="6884018"/>
                  </a:lnTo>
                  <a:lnTo>
                    <a:pt x="0" y="6884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4129982" y="2480250"/>
            <a:ext cx="10512619" cy="470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1"/>
              </a:lnSpc>
            </a:pPr>
            <a:r>
              <a:rPr lang="en-US" b="true" sz="7715" spc="347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EXPOSICIÓN DEL PROYECTO PROPIO Y ASIGNADO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381865" y="1397206"/>
            <a:ext cx="412691" cy="412691"/>
          </a:xfrm>
          <a:custGeom>
            <a:avLst/>
            <a:gdLst/>
            <a:ahLst/>
            <a:cxnLst/>
            <a:rect r="r" b="b" t="t" l="l"/>
            <a:pathLst>
              <a:path h="412691" w="412691">
                <a:moveTo>
                  <a:pt x="0" y="0"/>
                </a:moveTo>
                <a:lnTo>
                  <a:pt x="412691" y="0"/>
                </a:lnTo>
                <a:lnTo>
                  <a:pt x="412691" y="412691"/>
                </a:lnTo>
                <a:lnTo>
                  <a:pt x="0" y="412691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971688" y="1447293"/>
            <a:ext cx="4599180" cy="31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2057" b="true">
                <a:solidFill>
                  <a:srgbClr val="000012"/>
                </a:solidFill>
                <a:latin typeface="Arimo Bold"/>
                <a:ea typeface="Arimo Bold"/>
                <a:cs typeface="Arimo Bold"/>
                <a:sym typeface="Arimo Bold"/>
              </a:rPr>
              <a:t>BASE DE DATOS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11623" y="7599421"/>
            <a:ext cx="4064753" cy="119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7784" indent="-233892" lvl="1">
              <a:lnSpc>
                <a:spcPts val="3206"/>
              </a:lnSpc>
              <a:buFont typeface="Arial"/>
              <a:buChar char="•"/>
            </a:pPr>
            <a:r>
              <a:rPr lang="en-US" sz="2166">
                <a:solidFill>
                  <a:srgbClr val="000012"/>
                </a:solidFill>
                <a:latin typeface="Arimo"/>
                <a:ea typeface="Arimo"/>
                <a:cs typeface="Arimo"/>
                <a:sym typeface="Arimo"/>
              </a:rPr>
              <a:t>Altamirano Rodriguez Valeria</a:t>
            </a:r>
          </a:p>
          <a:p>
            <a:pPr algn="just" marL="467784" indent="-233892" lvl="1">
              <a:lnSpc>
                <a:spcPts val="3206"/>
              </a:lnSpc>
              <a:buFont typeface="Arial"/>
              <a:buChar char="•"/>
            </a:pPr>
            <a:r>
              <a:rPr lang="en-US" sz="2166">
                <a:solidFill>
                  <a:srgbClr val="000012"/>
                </a:solidFill>
                <a:latin typeface="Arimo"/>
                <a:ea typeface="Arimo"/>
                <a:cs typeface="Arimo"/>
                <a:sym typeface="Arimo"/>
              </a:rPr>
              <a:t>Roldan Rumbo Angela Itzel</a:t>
            </a:r>
          </a:p>
          <a:p>
            <a:pPr algn="just" marL="467784" indent="-233892" lvl="1">
              <a:lnSpc>
                <a:spcPts val="3206"/>
              </a:lnSpc>
              <a:buFont typeface="Arial"/>
              <a:buChar char="•"/>
            </a:pPr>
            <a:r>
              <a:rPr lang="en-US" sz="2166">
                <a:solidFill>
                  <a:srgbClr val="000012"/>
                </a:solidFill>
                <a:latin typeface="Arimo"/>
                <a:ea typeface="Arimo"/>
                <a:cs typeface="Arimo"/>
                <a:sym typeface="Arimo"/>
              </a:rPr>
              <a:t>García Fernández David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9228" y="4183777"/>
            <a:ext cx="19971082" cy="4821922"/>
            <a:chOff x="0" y="0"/>
            <a:chExt cx="5259873" cy="12699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59874" cy="1269971"/>
            </a:xfrm>
            <a:custGeom>
              <a:avLst/>
              <a:gdLst/>
              <a:ahLst/>
              <a:cxnLst/>
              <a:rect r="r" b="b" t="t" l="l"/>
              <a:pathLst>
                <a:path h="1269971" w="5259874">
                  <a:moveTo>
                    <a:pt x="0" y="0"/>
                  </a:moveTo>
                  <a:lnTo>
                    <a:pt x="5259874" y="0"/>
                  </a:lnTo>
                  <a:lnTo>
                    <a:pt x="5259874" y="1269971"/>
                  </a:lnTo>
                  <a:lnTo>
                    <a:pt x="0" y="1269971"/>
                  </a:lnTo>
                  <a:close/>
                </a:path>
              </a:pathLst>
            </a:custGeom>
            <a:solidFill>
              <a:srgbClr val="3D989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259873" cy="1327121"/>
            </a:xfrm>
            <a:prstGeom prst="rect">
              <a:avLst/>
            </a:prstGeom>
          </p:spPr>
          <p:txBody>
            <a:bodyPr anchor="ctr" rtlCol="false" tIns="241300" lIns="241300" bIns="241300" rIns="241300"/>
            <a:lstStyle/>
            <a:p>
              <a:pPr algn="just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931698" y="2120281"/>
            <a:ext cx="12424604" cy="18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8"/>
              </a:lnSpc>
            </a:pPr>
            <a:r>
              <a:rPr lang="en-US" b="true" sz="10563">
                <a:solidFill>
                  <a:srgbClr val="000012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ÍNDICE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549730" y="-2561775"/>
            <a:ext cx="5419140" cy="5123550"/>
          </a:xfrm>
          <a:custGeom>
            <a:avLst/>
            <a:gdLst/>
            <a:ahLst/>
            <a:cxnLst/>
            <a:rect r="r" b="b" t="t" l="l"/>
            <a:pathLst>
              <a:path h="5123550" w="5419140">
                <a:moveTo>
                  <a:pt x="0" y="0"/>
                </a:moveTo>
                <a:lnTo>
                  <a:pt x="5419140" y="0"/>
                </a:lnTo>
                <a:lnTo>
                  <a:pt x="5419140" y="5123550"/>
                </a:lnTo>
                <a:lnTo>
                  <a:pt x="0" y="5123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4400" y="3028136"/>
            <a:ext cx="7925782" cy="7133204"/>
          </a:xfrm>
          <a:custGeom>
            <a:avLst/>
            <a:gdLst/>
            <a:ahLst/>
            <a:cxnLst/>
            <a:rect r="r" b="b" t="t" l="l"/>
            <a:pathLst>
              <a:path h="7133204" w="7925782">
                <a:moveTo>
                  <a:pt x="0" y="0"/>
                </a:moveTo>
                <a:lnTo>
                  <a:pt x="7925783" y="0"/>
                </a:lnTo>
                <a:lnTo>
                  <a:pt x="7925783" y="7133204"/>
                </a:lnTo>
                <a:lnTo>
                  <a:pt x="0" y="71332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58731" y="4448241"/>
            <a:ext cx="5968906" cy="4404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01 Proyecto Propio</a:t>
            </a:r>
          </a:p>
          <a:p>
            <a:pPr algn="l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1.1 Introducción</a:t>
            </a:r>
          </a:p>
          <a:p>
            <a:pPr algn="l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1.2 Entrevista</a:t>
            </a:r>
          </a:p>
          <a:p>
            <a:pPr algn="l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1.3 Modelo ER</a:t>
            </a:r>
          </a:p>
          <a:p>
            <a:pPr algn="l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1.4 Modelo ERR</a:t>
            </a:r>
          </a:p>
          <a:p>
            <a:pPr algn="l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1.5 Modelo Relacional</a:t>
            </a:r>
          </a:p>
          <a:p>
            <a:pPr algn="l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1.6 Landing Page</a:t>
            </a:r>
          </a:p>
          <a:p>
            <a:pPr algn="l">
              <a:lnSpc>
                <a:spcPts val="439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371849" y="4448241"/>
            <a:ext cx="5968906" cy="385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02 Proyecto Asignado (Agua)</a:t>
            </a:r>
          </a:p>
          <a:p>
            <a:pPr algn="l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2.1 Ejecución del sistema.</a:t>
            </a:r>
          </a:p>
          <a:p>
            <a:pPr algn="l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2.2 Versión estática.</a:t>
            </a:r>
          </a:p>
          <a:p>
            <a:pPr algn="l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2.3 Versión con backend.</a:t>
            </a:r>
          </a:p>
          <a:p>
            <a:pPr algn="l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03 Artículos</a:t>
            </a:r>
          </a:p>
          <a:p>
            <a:pPr algn="l">
              <a:lnSpc>
                <a:spcPts val="4396"/>
              </a:lnSpc>
            </a:pPr>
          </a:p>
          <a:p>
            <a:pPr algn="l">
              <a:lnSpc>
                <a:spcPts val="439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5EB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9664" y="498751"/>
            <a:ext cx="17248671" cy="9289498"/>
            <a:chOff x="0" y="0"/>
            <a:chExt cx="4542860" cy="24466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2860" cy="2446617"/>
            </a:xfrm>
            <a:custGeom>
              <a:avLst/>
              <a:gdLst/>
              <a:ahLst/>
              <a:cxnLst/>
              <a:rect r="r" b="b" t="t" l="l"/>
              <a:pathLst>
                <a:path h="2446617" w="4542860">
                  <a:moveTo>
                    <a:pt x="1795" y="0"/>
                  </a:moveTo>
                  <a:lnTo>
                    <a:pt x="4541065" y="0"/>
                  </a:lnTo>
                  <a:cubicBezTo>
                    <a:pt x="4542056" y="0"/>
                    <a:pt x="4542860" y="804"/>
                    <a:pt x="4542860" y="1795"/>
                  </a:cubicBezTo>
                  <a:lnTo>
                    <a:pt x="4542860" y="2444821"/>
                  </a:lnTo>
                  <a:cubicBezTo>
                    <a:pt x="4542860" y="2445298"/>
                    <a:pt x="4542671" y="2445754"/>
                    <a:pt x="4542334" y="2446091"/>
                  </a:cubicBezTo>
                  <a:cubicBezTo>
                    <a:pt x="4541998" y="2446428"/>
                    <a:pt x="4541541" y="2446617"/>
                    <a:pt x="4541065" y="2446617"/>
                  </a:cubicBezTo>
                  <a:lnTo>
                    <a:pt x="1795" y="2446617"/>
                  </a:lnTo>
                  <a:cubicBezTo>
                    <a:pt x="804" y="2446617"/>
                    <a:pt x="0" y="2445813"/>
                    <a:pt x="0" y="2444821"/>
                  </a:cubicBezTo>
                  <a:lnTo>
                    <a:pt x="0" y="1795"/>
                  </a:lnTo>
                  <a:cubicBezTo>
                    <a:pt x="0" y="804"/>
                    <a:pt x="804" y="0"/>
                    <a:pt x="1795" y="0"/>
                  </a:cubicBezTo>
                  <a:close/>
                </a:path>
              </a:pathLst>
            </a:custGeom>
            <a:ln w="85725" cap="sq">
              <a:solidFill>
                <a:srgbClr val="00001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2860" cy="2503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3230" y="1432243"/>
            <a:ext cx="15710759" cy="2012550"/>
            <a:chOff x="0" y="0"/>
            <a:chExt cx="3172519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2520" cy="406400"/>
            </a:xfrm>
            <a:custGeom>
              <a:avLst/>
              <a:gdLst/>
              <a:ahLst/>
              <a:cxnLst/>
              <a:rect r="r" b="b" t="t" l="l"/>
              <a:pathLst>
                <a:path h="406400" w="3172520">
                  <a:moveTo>
                    <a:pt x="2969320" y="0"/>
                  </a:moveTo>
                  <a:cubicBezTo>
                    <a:pt x="3081544" y="0"/>
                    <a:pt x="3172520" y="90976"/>
                    <a:pt x="3172520" y="203200"/>
                  </a:cubicBezTo>
                  <a:cubicBezTo>
                    <a:pt x="3172520" y="315424"/>
                    <a:pt x="3081544" y="406400"/>
                    <a:pt x="29693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5EB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17251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165684" y="3700977"/>
            <a:ext cx="23737071" cy="1843762"/>
            <a:chOff x="0" y="0"/>
            <a:chExt cx="1152928" cy="895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52928" cy="89553"/>
            </a:xfrm>
            <a:custGeom>
              <a:avLst/>
              <a:gdLst/>
              <a:ahLst/>
              <a:cxnLst/>
              <a:rect r="r" b="b" t="t" l="l"/>
              <a:pathLst>
                <a:path h="89553" w="1152928">
                  <a:moveTo>
                    <a:pt x="0" y="0"/>
                  </a:moveTo>
                  <a:lnTo>
                    <a:pt x="1152928" y="0"/>
                  </a:lnTo>
                  <a:lnTo>
                    <a:pt x="1152928" y="89553"/>
                  </a:lnTo>
                  <a:lnTo>
                    <a:pt x="0" y="89553"/>
                  </a:lnTo>
                  <a:close/>
                </a:path>
              </a:pathLst>
            </a:custGeom>
            <a:solidFill>
              <a:srgbClr val="3D989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152928" cy="99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8957" y="3910930"/>
            <a:ext cx="16739636" cy="1521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0"/>
              </a:lnSpc>
            </a:pPr>
            <a:r>
              <a:rPr lang="en-US" b="true" sz="8821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PROYECTO PROPIO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98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92594" y="1826522"/>
            <a:ext cx="15000986" cy="2513047"/>
            <a:chOff x="0" y="0"/>
            <a:chExt cx="728610" cy="1220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8610" cy="122061"/>
            </a:xfrm>
            <a:custGeom>
              <a:avLst/>
              <a:gdLst/>
              <a:ahLst/>
              <a:cxnLst/>
              <a:rect r="r" b="b" t="t" l="l"/>
              <a:pathLst>
                <a:path h="122061" w="728610">
                  <a:moveTo>
                    <a:pt x="0" y="0"/>
                  </a:moveTo>
                  <a:lnTo>
                    <a:pt x="728610" y="0"/>
                  </a:lnTo>
                  <a:lnTo>
                    <a:pt x="728610" y="122061"/>
                  </a:lnTo>
                  <a:lnTo>
                    <a:pt x="0" y="122061"/>
                  </a:lnTo>
                  <a:close/>
                </a:path>
              </a:pathLst>
            </a:custGeom>
            <a:solidFill>
              <a:srgbClr val="D5EB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728610" cy="131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05485" y="2457008"/>
            <a:ext cx="9036840" cy="126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91"/>
              </a:lnSpc>
            </a:pPr>
            <a:r>
              <a:rPr lang="en-US" b="true" sz="7350">
                <a:solidFill>
                  <a:srgbClr val="000012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INTRODUCCIÓN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65100" y="896213"/>
            <a:ext cx="6032178" cy="8190965"/>
            <a:chOff x="0" y="0"/>
            <a:chExt cx="1699005" cy="23070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99004" cy="2307042"/>
            </a:xfrm>
            <a:custGeom>
              <a:avLst/>
              <a:gdLst/>
              <a:ahLst/>
              <a:cxnLst/>
              <a:rect r="r" b="b" t="t" l="l"/>
              <a:pathLst>
                <a:path h="2307042" w="1699004">
                  <a:moveTo>
                    <a:pt x="5134" y="0"/>
                  </a:moveTo>
                  <a:lnTo>
                    <a:pt x="1693871" y="0"/>
                  </a:lnTo>
                  <a:cubicBezTo>
                    <a:pt x="1696706" y="0"/>
                    <a:pt x="1699004" y="2298"/>
                    <a:pt x="1699004" y="5134"/>
                  </a:cubicBezTo>
                  <a:lnTo>
                    <a:pt x="1699004" y="2301908"/>
                  </a:lnTo>
                  <a:cubicBezTo>
                    <a:pt x="1699004" y="2304743"/>
                    <a:pt x="1696706" y="2307042"/>
                    <a:pt x="1693871" y="2307042"/>
                  </a:cubicBezTo>
                  <a:lnTo>
                    <a:pt x="5134" y="2307042"/>
                  </a:lnTo>
                  <a:cubicBezTo>
                    <a:pt x="2298" y="2307042"/>
                    <a:pt x="0" y="2304743"/>
                    <a:pt x="0" y="2301908"/>
                  </a:cubicBezTo>
                  <a:lnTo>
                    <a:pt x="0" y="5134"/>
                  </a:lnTo>
                  <a:cubicBezTo>
                    <a:pt x="0" y="2298"/>
                    <a:pt x="2298" y="0"/>
                    <a:pt x="5134" y="0"/>
                  </a:cubicBezTo>
                  <a:close/>
                </a:path>
              </a:pathLst>
            </a:custGeom>
            <a:ln w="85725" cap="sq">
              <a:solidFill>
                <a:srgbClr val="00001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99005" cy="2345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10260" y="5313839"/>
            <a:ext cx="7633740" cy="307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El problema que atendemos es la deficiencia en el control de inventarios de farmacéuticas: no saber a que lote pertenece, cantidad de unidades y vencimiento del medicamento, ya que la venta de productos caducados es un riesgo sanitario.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08392" y="1143988"/>
            <a:ext cx="6075404" cy="8246800"/>
            <a:chOff x="0" y="0"/>
            <a:chExt cx="1006576" cy="13663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6576" cy="1366334"/>
            </a:xfrm>
            <a:custGeom>
              <a:avLst/>
              <a:gdLst/>
              <a:ahLst/>
              <a:cxnLst/>
              <a:rect r="r" b="b" t="t" l="l"/>
              <a:pathLst>
                <a:path h="1366334" w="1006576">
                  <a:moveTo>
                    <a:pt x="0" y="0"/>
                  </a:moveTo>
                  <a:lnTo>
                    <a:pt x="1006576" y="0"/>
                  </a:lnTo>
                  <a:lnTo>
                    <a:pt x="1006576" y="1366334"/>
                  </a:lnTo>
                  <a:lnTo>
                    <a:pt x="0" y="1366334"/>
                  </a:lnTo>
                  <a:close/>
                </a:path>
              </a:pathLst>
            </a:custGeom>
            <a:blipFill>
              <a:blip r:embed="rId2"/>
              <a:stretch>
                <a:fillRect l="-51805" t="0" r="-51805" b="0"/>
              </a:stretch>
            </a:blipFill>
            <a:ln w="76200" cap="sq">
              <a:solidFill>
                <a:srgbClr val="D5EBED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9664" y="498751"/>
            <a:ext cx="17248671" cy="9289498"/>
            <a:chOff x="0" y="0"/>
            <a:chExt cx="4542860" cy="24466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2860" cy="2446617"/>
            </a:xfrm>
            <a:custGeom>
              <a:avLst/>
              <a:gdLst/>
              <a:ahLst/>
              <a:cxnLst/>
              <a:rect r="r" b="b" t="t" l="l"/>
              <a:pathLst>
                <a:path h="2446617" w="4542860">
                  <a:moveTo>
                    <a:pt x="1795" y="0"/>
                  </a:moveTo>
                  <a:lnTo>
                    <a:pt x="4541065" y="0"/>
                  </a:lnTo>
                  <a:cubicBezTo>
                    <a:pt x="4542056" y="0"/>
                    <a:pt x="4542860" y="804"/>
                    <a:pt x="4542860" y="1795"/>
                  </a:cubicBezTo>
                  <a:lnTo>
                    <a:pt x="4542860" y="2444821"/>
                  </a:lnTo>
                  <a:cubicBezTo>
                    <a:pt x="4542860" y="2445298"/>
                    <a:pt x="4542671" y="2445754"/>
                    <a:pt x="4542334" y="2446091"/>
                  </a:cubicBezTo>
                  <a:cubicBezTo>
                    <a:pt x="4541998" y="2446428"/>
                    <a:pt x="4541541" y="2446617"/>
                    <a:pt x="4541065" y="2446617"/>
                  </a:cubicBezTo>
                  <a:lnTo>
                    <a:pt x="1795" y="2446617"/>
                  </a:lnTo>
                  <a:cubicBezTo>
                    <a:pt x="804" y="2446617"/>
                    <a:pt x="0" y="2445813"/>
                    <a:pt x="0" y="2444821"/>
                  </a:cubicBezTo>
                  <a:lnTo>
                    <a:pt x="0" y="1795"/>
                  </a:lnTo>
                  <a:cubicBezTo>
                    <a:pt x="0" y="804"/>
                    <a:pt x="804" y="0"/>
                    <a:pt x="1795" y="0"/>
                  </a:cubicBezTo>
                  <a:close/>
                </a:path>
              </a:pathLst>
            </a:custGeom>
            <a:ln w="85725" cap="sq">
              <a:solidFill>
                <a:srgbClr val="D5EB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2860" cy="2503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8051326" y="1028700"/>
            <a:ext cx="18160051" cy="2457944"/>
            <a:chOff x="0" y="0"/>
            <a:chExt cx="771382" cy="1044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1382" cy="104406"/>
            </a:xfrm>
            <a:custGeom>
              <a:avLst/>
              <a:gdLst/>
              <a:ahLst/>
              <a:cxnLst/>
              <a:rect r="r" b="b" t="t" l="l"/>
              <a:pathLst>
                <a:path h="104406" w="771382">
                  <a:moveTo>
                    <a:pt x="0" y="0"/>
                  </a:moveTo>
                  <a:lnTo>
                    <a:pt x="771382" y="0"/>
                  </a:lnTo>
                  <a:lnTo>
                    <a:pt x="771382" y="104406"/>
                  </a:lnTo>
                  <a:lnTo>
                    <a:pt x="0" y="104406"/>
                  </a:lnTo>
                  <a:close/>
                </a:path>
              </a:pathLst>
            </a:custGeom>
            <a:solidFill>
              <a:srgbClr val="3D989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771382" cy="113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652915" y="7959148"/>
            <a:ext cx="304925" cy="468216"/>
          </a:xfrm>
          <a:custGeom>
            <a:avLst/>
            <a:gdLst/>
            <a:ahLst/>
            <a:cxnLst/>
            <a:rect r="r" b="b" t="t" l="l"/>
            <a:pathLst>
              <a:path h="468216" w="304925">
                <a:moveTo>
                  <a:pt x="0" y="0"/>
                </a:moveTo>
                <a:lnTo>
                  <a:pt x="304926" y="0"/>
                </a:lnTo>
                <a:lnTo>
                  <a:pt x="304926" y="468215"/>
                </a:lnTo>
                <a:lnTo>
                  <a:pt x="0" y="46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86068" y="3841727"/>
            <a:ext cx="1469474" cy="448318"/>
            <a:chOff x="0" y="0"/>
            <a:chExt cx="387022" cy="1180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7022" cy="118075"/>
            </a:xfrm>
            <a:custGeom>
              <a:avLst/>
              <a:gdLst/>
              <a:ahLst/>
              <a:cxnLst/>
              <a:rect r="r" b="b" t="t" l="l"/>
              <a:pathLst>
                <a:path h="118075" w="387022">
                  <a:moveTo>
                    <a:pt x="0" y="0"/>
                  </a:moveTo>
                  <a:lnTo>
                    <a:pt x="387022" y="0"/>
                  </a:lnTo>
                  <a:lnTo>
                    <a:pt x="387022" y="118075"/>
                  </a:lnTo>
                  <a:lnTo>
                    <a:pt x="0" y="118075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87022" cy="12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95281" y="1563780"/>
            <a:ext cx="9188369" cy="146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99"/>
              </a:lnSpc>
            </a:pPr>
            <a:r>
              <a:rPr lang="en-US" b="true" sz="9999" spc="359">
                <a:solidFill>
                  <a:srgbClr val="F7FFFD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ENTREVISTA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920551"/>
            <a:ext cx="8355385" cy="75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68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Nosotros: Buenas tardes, Laura. Cuéntame, ¿cómo llevan hoy el control de la farmacia?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883650" y="4290045"/>
            <a:ext cx="2244160" cy="448318"/>
            <a:chOff x="0" y="0"/>
            <a:chExt cx="591054" cy="1180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1054" cy="118075"/>
            </a:xfrm>
            <a:custGeom>
              <a:avLst/>
              <a:gdLst/>
              <a:ahLst/>
              <a:cxnLst/>
              <a:rect r="r" b="b" t="t" l="l"/>
              <a:pathLst>
                <a:path h="118075" w="591054">
                  <a:moveTo>
                    <a:pt x="0" y="0"/>
                  </a:moveTo>
                  <a:lnTo>
                    <a:pt x="591054" y="0"/>
                  </a:lnTo>
                  <a:lnTo>
                    <a:pt x="591054" y="118075"/>
                  </a:lnTo>
                  <a:lnTo>
                    <a:pt x="0" y="118075"/>
                  </a:lnTo>
                  <a:close/>
                </a:path>
              </a:pathLst>
            </a:custGeom>
            <a:solidFill>
              <a:srgbClr val="C9DEF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591054" cy="12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883650" y="4322970"/>
            <a:ext cx="7375650" cy="130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68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Laura (Cliente) : Pues en una libreta y a veces en el celular. Se me pierden cosas, y el mes pasado casi vendo un jarabe caducado.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6068" y="6035326"/>
            <a:ext cx="1469474" cy="448318"/>
            <a:chOff x="0" y="0"/>
            <a:chExt cx="387022" cy="1180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7022" cy="118075"/>
            </a:xfrm>
            <a:custGeom>
              <a:avLst/>
              <a:gdLst/>
              <a:ahLst/>
              <a:cxnLst/>
              <a:rect r="r" b="b" t="t" l="l"/>
              <a:pathLst>
                <a:path h="118075" w="387022">
                  <a:moveTo>
                    <a:pt x="0" y="0"/>
                  </a:moveTo>
                  <a:lnTo>
                    <a:pt x="387022" y="0"/>
                  </a:lnTo>
                  <a:lnTo>
                    <a:pt x="387022" y="118075"/>
                  </a:lnTo>
                  <a:lnTo>
                    <a:pt x="0" y="118075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387022" cy="12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8700" y="6033988"/>
            <a:ext cx="7814906" cy="870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68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Nosotros:Uff, qué susto. ¿Cómo te das cuenta de cuándo caduca algo?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83650" y="6889157"/>
            <a:ext cx="2244160" cy="448318"/>
            <a:chOff x="0" y="0"/>
            <a:chExt cx="591054" cy="1180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1054" cy="118075"/>
            </a:xfrm>
            <a:custGeom>
              <a:avLst/>
              <a:gdLst/>
              <a:ahLst/>
              <a:cxnLst/>
              <a:rect r="r" b="b" t="t" l="l"/>
              <a:pathLst>
                <a:path h="118075" w="591054">
                  <a:moveTo>
                    <a:pt x="0" y="0"/>
                  </a:moveTo>
                  <a:lnTo>
                    <a:pt x="591054" y="0"/>
                  </a:lnTo>
                  <a:lnTo>
                    <a:pt x="591054" y="118075"/>
                  </a:lnTo>
                  <a:lnTo>
                    <a:pt x="0" y="118075"/>
                  </a:lnTo>
                  <a:close/>
                </a:path>
              </a:pathLst>
            </a:custGeom>
            <a:solidFill>
              <a:srgbClr val="C9DEF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91054" cy="12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883650" y="6876149"/>
            <a:ext cx="7613993" cy="2185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68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Laura (Cliente): Reviso la caja. Y ojo, el mismo medicamento me llega en distintas entregas, cada una con su número de lote, su fecha de fabricación y su caducidad. Quisiera saber cuántas piezas me quedan de cada lote.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9664" y="498751"/>
            <a:ext cx="17248671" cy="9289498"/>
            <a:chOff x="0" y="0"/>
            <a:chExt cx="4542860" cy="24466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2860" cy="2446617"/>
            </a:xfrm>
            <a:custGeom>
              <a:avLst/>
              <a:gdLst/>
              <a:ahLst/>
              <a:cxnLst/>
              <a:rect r="r" b="b" t="t" l="l"/>
              <a:pathLst>
                <a:path h="2446617" w="4542860">
                  <a:moveTo>
                    <a:pt x="1795" y="0"/>
                  </a:moveTo>
                  <a:lnTo>
                    <a:pt x="4541065" y="0"/>
                  </a:lnTo>
                  <a:cubicBezTo>
                    <a:pt x="4542056" y="0"/>
                    <a:pt x="4542860" y="804"/>
                    <a:pt x="4542860" y="1795"/>
                  </a:cubicBezTo>
                  <a:lnTo>
                    <a:pt x="4542860" y="2444821"/>
                  </a:lnTo>
                  <a:cubicBezTo>
                    <a:pt x="4542860" y="2445298"/>
                    <a:pt x="4542671" y="2445754"/>
                    <a:pt x="4542334" y="2446091"/>
                  </a:cubicBezTo>
                  <a:cubicBezTo>
                    <a:pt x="4541998" y="2446428"/>
                    <a:pt x="4541541" y="2446617"/>
                    <a:pt x="4541065" y="2446617"/>
                  </a:cubicBezTo>
                  <a:lnTo>
                    <a:pt x="1795" y="2446617"/>
                  </a:lnTo>
                  <a:cubicBezTo>
                    <a:pt x="804" y="2446617"/>
                    <a:pt x="0" y="2445813"/>
                    <a:pt x="0" y="2444821"/>
                  </a:cubicBezTo>
                  <a:lnTo>
                    <a:pt x="0" y="1795"/>
                  </a:lnTo>
                  <a:cubicBezTo>
                    <a:pt x="0" y="804"/>
                    <a:pt x="804" y="0"/>
                    <a:pt x="1795" y="0"/>
                  </a:cubicBezTo>
                  <a:close/>
                </a:path>
              </a:pathLst>
            </a:custGeom>
            <a:ln w="85725" cap="sq">
              <a:solidFill>
                <a:srgbClr val="D5EB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2860" cy="2503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52915" y="7959148"/>
            <a:ext cx="304925" cy="468216"/>
          </a:xfrm>
          <a:custGeom>
            <a:avLst/>
            <a:gdLst/>
            <a:ahLst/>
            <a:cxnLst/>
            <a:rect r="r" b="b" t="t" l="l"/>
            <a:pathLst>
              <a:path h="468216" w="304925">
                <a:moveTo>
                  <a:pt x="0" y="0"/>
                </a:moveTo>
                <a:lnTo>
                  <a:pt x="304926" y="0"/>
                </a:lnTo>
                <a:lnTo>
                  <a:pt x="304926" y="468215"/>
                </a:lnTo>
                <a:lnTo>
                  <a:pt x="0" y="46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358936"/>
            <a:ext cx="1469474" cy="448318"/>
            <a:chOff x="0" y="0"/>
            <a:chExt cx="387022" cy="118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7022" cy="118075"/>
            </a:xfrm>
            <a:custGeom>
              <a:avLst/>
              <a:gdLst/>
              <a:ahLst/>
              <a:cxnLst/>
              <a:rect r="r" b="b" t="t" l="l"/>
              <a:pathLst>
                <a:path h="118075" w="387022">
                  <a:moveTo>
                    <a:pt x="0" y="0"/>
                  </a:moveTo>
                  <a:lnTo>
                    <a:pt x="387022" y="0"/>
                  </a:lnTo>
                  <a:lnTo>
                    <a:pt x="387022" y="118075"/>
                  </a:lnTo>
                  <a:lnTo>
                    <a:pt x="0" y="118075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387022" cy="12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362285"/>
            <a:ext cx="8355385" cy="38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68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Nosotros: ¿Qué venden además de medicamentos?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83650" y="1748848"/>
            <a:ext cx="2244160" cy="448318"/>
            <a:chOff x="0" y="0"/>
            <a:chExt cx="591054" cy="1180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1054" cy="118075"/>
            </a:xfrm>
            <a:custGeom>
              <a:avLst/>
              <a:gdLst/>
              <a:ahLst/>
              <a:cxnLst/>
              <a:rect r="r" b="b" t="t" l="l"/>
              <a:pathLst>
                <a:path h="118075" w="591054">
                  <a:moveTo>
                    <a:pt x="0" y="0"/>
                  </a:moveTo>
                  <a:lnTo>
                    <a:pt x="591054" y="0"/>
                  </a:lnTo>
                  <a:lnTo>
                    <a:pt x="591054" y="118075"/>
                  </a:lnTo>
                  <a:lnTo>
                    <a:pt x="0" y="118075"/>
                  </a:lnTo>
                  <a:close/>
                </a:path>
              </a:pathLst>
            </a:custGeom>
            <a:solidFill>
              <a:srgbClr val="C9DEF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91054" cy="12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883650" y="1720273"/>
            <a:ext cx="7375650" cy="1747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68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Laura (Cliente) : Shampoo, pañales, vitaminas, material de curación. Y los medicamentos los manejo distinto: de esos me importa el principio activo, la concentración, y si piden receta o no.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98939" y="4004607"/>
            <a:ext cx="1469474" cy="448318"/>
            <a:chOff x="0" y="0"/>
            <a:chExt cx="387022" cy="1180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7022" cy="118075"/>
            </a:xfrm>
            <a:custGeom>
              <a:avLst/>
              <a:gdLst/>
              <a:ahLst/>
              <a:cxnLst/>
              <a:rect r="r" b="b" t="t" l="l"/>
              <a:pathLst>
                <a:path h="118075" w="387022">
                  <a:moveTo>
                    <a:pt x="0" y="0"/>
                  </a:moveTo>
                  <a:lnTo>
                    <a:pt x="387022" y="0"/>
                  </a:lnTo>
                  <a:lnTo>
                    <a:pt x="387022" y="118075"/>
                  </a:lnTo>
                  <a:lnTo>
                    <a:pt x="0" y="118075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87022" cy="12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98939" y="3998185"/>
            <a:ext cx="7814906" cy="432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68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Nosotros: ¿Y de los otros productos?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764479" y="4430771"/>
            <a:ext cx="2244160" cy="448318"/>
            <a:chOff x="0" y="0"/>
            <a:chExt cx="591054" cy="1180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1054" cy="118075"/>
            </a:xfrm>
            <a:custGeom>
              <a:avLst/>
              <a:gdLst/>
              <a:ahLst/>
              <a:cxnLst/>
              <a:rect r="r" b="b" t="t" l="l"/>
              <a:pathLst>
                <a:path h="118075" w="591054">
                  <a:moveTo>
                    <a:pt x="0" y="0"/>
                  </a:moveTo>
                  <a:lnTo>
                    <a:pt x="591054" y="0"/>
                  </a:lnTo>
                  <a:lnTo>
                    <a:pt x="591054" y="118075"/>
                  </a:lnTo>
                  <a:lnTo>
                    <a:pt x="0" y="118075"/>
                  </a:lnTo>
                  <a:close/>
                </a:path>
              </a:pathLst>
            </a:custGeom>
            <a:solidFill>
              <a:srgbClr val="C9DEF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91054" cy="12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764479" y="4402196"/>
            <a:ext cx="7613993" cy="2185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68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Laura (Cliente): Solo el tipo, por ejemplo higiene o curación, y cómo se vende: por pieza, caja o paquete. De todos quiero nombre, presentación, precio de venta y poder desactivarlos si ya no los manejo.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29094" y="6543077"/>
            <a:ext cx="1469474" cy="448318"/>
            <a:chOff x="0" y="0"/>
            <a:chExt cx="387022" cy="1180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7022" cy="118075"/>
            </a:xfrm>
            <a:custGeom>
              <a:avLst/>
              <a:gdLst/>
              <a:ahLst/>
              <a:cxnLst/>
              <a:rect r="r" b="b" t="t" l="l"/>
              <a:pathLst>
                <a:path h="118075" w="387022">
                  <a:moveTo>
                    <a:pt x="0" y="0"/>
                  </a:moveTo>
                  <a:lnTo>
                    <a:pt x="387022" y="0"/>
                  </a:lnTo>
                  <a:lnTo>
                    <a:pt x="387022" y="118075"/>
                  </a:lnTo>
                  <a:lnTo>
                    <a:pt x="0" y="118075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387022" cy="12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29094" y="6558808"/>
            <a:ext cx="7814906" cy="432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68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Nosotros: ¿Cómo los organizas?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764479" y="7231517"/>
            <a:ext cx="2244160" cy="448318"/>
            <a:chOff x="0" y="0"/>
            <a:chExt cx="591054" cy="1180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1054" cy="118075"/>
            </a:xfrm>
            <a:custGeom>
              <a:avLst/>
              <a:gdLst/>
              <a:ahLst/>
              <a:cxnLst/>
              <a:rect r="r" b="b" t="t" l="l"/>
              <a:pathLst>
                <a:path h="118075" w="591054">
                  <a:moveTo>
                    <a:pt x="0" y="0"/>
                  </a:moveTo>
                  <a:lnTo>
                    <a:pt x="591054" y="0"/>
                  </a:lnTo>
                  <a:lnTo>
                    <a:pt x="591054" y="118075"/>
                  </a:lnTo>
                  <a:lnTo>
                    <a:pt x="0" y="118075"/>
                  </a:lnTo>
                  <a:close/>
                </a:path>
              </a:pathLst>
            </a:custGeom>
            <a:solidFill>
              <a:srgbClr val="C9DEF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91054" cy="12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764479" y="7202942"/>
            <a:ext cx="7613993" cy="130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68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Laura (Cliente): Por categorías: analgésicos, antibióticos, higiene. Y quiero saber su información por si tengo que reclamar algo.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9664" y="498751"/>
            <a:ext cx="17248671" cy="9289498"/>
            <a:chOff x="0" y="0"/>
            <a:chExt cx="4542860" cy="24466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2860" cy="2446617"/>
            </a:xfrm>
            <a:custGeom>
              <a:avLst/>
              <a:gdLst/>
              <a:ahLst/>
              <a:cxnLst/>
              <a:rect r="r" b="b" t="t" l="l"/>
              <a:pathLst>
                <a:path h="2446617" w="4542860">
                  <a:moveTo>
                    <a:pt x="1795" y="0"/>
                  </a:moveTo>
                  <a:lnTo>
                    <a:pt x="4541065" y="0"/>
                  </a:lnTo>
                  <a:cubicBezTo>
                    <a:pt x="4542056" y="0"/>
                    <a:pt x="4542860" y="804"/>
                    <a:pt x="4542860" y="1795"/>
                  </a:cubicBezTo>
                  <a:lnTo>
                    <a:pt x="4542860" y="2444821"/>
                  </a:lnTo>
                  <a:cubicBezTo>
                    <a:pt x="4542860" y="2445298"/>
                    <a:pt x="4542671" y="2445754"/>
                    <a:pt x="4542334" y="2446091"/>
                  </a:cubicBezTo>
                  <a:cubicBezTo>
                    <a:pt x="4541998" y="2446428"/>
                    <a:pt x="4541541" y="2446617"/>
                    <a:pt x="4541065" y="2446617"/>
                  </a:cubicBezTo>
                  <a:lnTo>
                    <a:pt x="1795" y="2446617"/>
                  </a:lnTo>
                  <a:cubicBezTo>
                    <a:pt x="804" y="2446617"/>
                    <a:pt x="0" y="2445813"/>
                    <a:pt x="0" y="2444821"/>
                  </a:cubicBezTo>
                  <a:lnTo>
                    <a:pt x="0" y="1795"/>
                  </a:lnTo>
                  <a:cubicBezTo>
                    <a:pt x="0" y="804"/>
                    <a:pt x="804" y="0"/>
                    <a:pt x="1795" y="0"/>
                  </a:cubicBezTo>
                  <a:close/>
                </a:path>
              </a:pathLst>
            </a:custGeom>
            <a:ln w="85725" cap="sq">
              <a:solidFill>
                <a:srgbClr val="D5EB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2860" cy="2503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52915" y="7959148"/>
            <a:ext cx="304925" cy="468216"/>
          </a:xfrm>
          <a:custGeom>
            <a:avLst/>
            <a:gdLst/>
            <a:ahLst/>
            <a:cxnLst/>
            <a:rect r="r" b="b" t="t" l="l"/>
            <a:pathLst>
              <a:path h="468216" w="304925">
                <a:moveTo>
                  <a:pt x="0" y="0"/>
                </a:moveTo>
                <a:lnTo>
                  <a:pt x="304926" y="0"/>
                </a:lnTo>
                <a:lnTo>
                  <a:pt x="304926" y="468215"/>
                </a:lnTo>
                <a:lnTo>
                  <a:pt x="0" y="46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86068" y="1343235"/>
            <a:ext cx="1469474" cy="448318"/>
            <a:chOff x="0" y="0"/>
            <a:chExt cx="387022" cy="1180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7022" cy="118075"/>
            </a:xfrm>
            <a:custGeom>
              <a:avLst/>
              <a:gdLst/>
              <a:ahLst/>
              <a:cxnLst/>
              <a:rect r="r" b="b" t="t" l="l"/>
              <a:pathLst>
                <a:path h="118075" w="387022">
                  <a:moveTo>
                    <a:pt x="0" y="0"/>
                  </a:moveTo>
                  <a:lnTo>
                    <a:pt x="387022" y="0"/>
                  </a:lnTo>
                  <a:lnTo>
                    <a:pt x="387022" y="118075"/>
                  </a:lnTo>
                  <a:lnTo>
                    <a:pt x="0" y="118075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387022" cy="12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362285"/>
            <a:ext cx="8355385" cy="38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68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Nosotros: Sobre las compras, ¿qué registras?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83650" y="1748848"/>
            <a:ext cx="2244160" cy="448318"/>
            <a:chOff x="0" y="0"/>
            <a:chExt cx="591054" cy="1180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1054" cy="118075"/>
            </a:xfrm>
            <a:custGeom>
              <a:avLst/>
              <a:gdLst/>
              <a:ahLst/>
              <a:cxnLst/>
              <a:rect r="r" b="b" t="t" l="l"/>
              <a:pathLst>
                <a:path h="118075" w="591054">
                  <a:moveTo>
                    <a:pt x="0" y="0"/>
                  </a:moveTo>
                  <a:lnTo>
                    <a:pt x="591054" y="0"/>
                  </a:lnTo>
                  <a:lnTo>
                    <a:pt x="591054" y="118075"/>
                  </a:lnTo>
                  <a:lnTo>
                    <a:pt x="0" y="118075"/>
                  </a:lnTo>
                  <a:close/>
                </a:path>
              </a:pathLst>
            </a:custGeom>
            <a:solidFill>
              <a:srgbClr val="C9DEF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91054" cy="12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883650" y="1720273"/>
            <a:ext cx="7375650" cy="1747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68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Laura (Cliente) : La fecha, qué productos llegaron, cuántos, a qué precio y el descuento si me lo dieron. También el impuesto y el total, porque luego lo necesita mi contador.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29094" y="4230110"/>
            <a:ext cx="1469474" cy="448318"/>
            <a:chOff x="0" y="0"/>
            <a:chExt cx="387022" cy="1180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7022" cy="118075"/>
            </a:xfrm>
            <a:custGeom>
              <a:avLst/>
              <a:gdLst/>
              <a:ahLst/>
              <a:cxnLst/>
              <a:rect r="r" b="b" t="t" l="l"/>
              <a:pathLst>
                <a:path h="118075" w="387022">
                  <a:moveTo>
                    <a:pt x="0" y="0"/>
                  </a:moveTo>
                  <a:lnTo>
                    <a:pt x="387022" y="0"/>
                  </a:lnTo>
                  <a:lnTo>
                    <a:pt x="387022" y="118075"/>
                  </a:lnTo>
                  <a:lnTo>
                    <a:pt x="0" y="118075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87022" cy="12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98939" y="4202336"/>
            <a:ext cx="7814906" cy="432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68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Nosotros: ¿Y en las ventas?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764479" y="4768028"/>
            <a:ext cx="2244160" cy="448318"/>
            <a:chOff x="0" y="0"/>
            <a:chExt cx="591054" cy="1180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1054" cy="118075"/>
            </a:xfrm>
            <a:custGeom>
              <a:avLst/>
              <a:gdLst/>
              <a:ahLst/>
              <a:cxnLst/>
              <a:rect r="r" b="b" t="t" l="l"/>
              <a:pathLst>
                <a:path h="118075" w="591054">
                  <a:moveTo>
                    <a:pt x="0" y="0"/>
                  </a:moveTo>
                  <a:lnTo>
                    <a:pt x="591054" y="0"/>
                  </a:lnTo>
                  <a:lnTo>
                    <a:pt x="591054" y="118075"/>
                  </a:lnTo>
                  <a:lnTo>
                    <a:pt x="0" y="118075"/>
                  </a:lnTo>
                  <a:close/>
                </a:path>
              </a:pathLst>
            </a:custGeom>
            <a:solidFill>
              <a:srgbClr val="C9DEF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91054" cy="12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764479" y="4739453"/>
            <a:ext cx="7613993" cy="2185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68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Laura (Cliente): Igual: la fecha y hora, qué se llevó el cliente, cuántos, el descuento si hubo y cómo pagó, si en efectivo o con tarjeta. Y me gustaría saber de qué lote salió cada cosa, por si un laboratorio retira un producto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35904" y="7120948"/>
            <a:ext cx="1469474" cy="448318"/>
            <a:chOff x="0" y="0"/>
            <a:chExt cx="387022" cy="1180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7022" cy="118075"/>
            </a:xfrm>
            <a:custGeom>
              <a:avLst/>
              <a:gdLst/>
              <a:ahLst/>
              <a:cxnLst/>
              <a:rect r="r" b="b" t="t" l="l"/>
              <a:pathLst>
                <a:path h="118075" w="387022">
                  <a:moveTo>
                    <a:pt x="0" y="0"/>
                  </a:moveTo>
                  <a:lnTo>
                    <a:pt x="387022" y="0"/>
                  </a:lnTo>
                  <a:lnTo>
                    <a:pt x="387022" y="118075"/>
                  </a:lnTo>
                  <a:lnTo>
                    <a:pt x="0" y="118075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387022" cy="12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29094" y="7088411"/>
            <a:ext cx="7814906" cy="870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68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Nosotros: Perfecto, Laura, con esto tenemos. Gracias.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764479" y="8193255"/>
            <a:ext cx="2244160" cy="448318"/>
            <a:chOff x="0" y="0"/>
            <a:chExt cx="591054" cy="1180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1054" cy="118075"/>
            </a:xfrm>
            <a:custGeom>
              <a:avLst/>
              <a:gdLst/>
              <a:ahLst/>
              <a:cxnLst/>
              <a:rect r="r" b="b" t="t" l="l"/>
              <a:pathLst>
                <a:path h="118075" w="591054">
                  <a:moveTo>
                    <a:pt x="0" y="0"/>
                  </a:moveTo>
                  <a:lnTo>
                    <a:pt x="591054" y="0"/>
                  </a:lnTo>
                  <a:lnTo>
                    <a:pt x="591054" y="118075"/>
                  </a:lnTo>
                  <a:lnTo>
                    <a:pt x="0" y="118075"/>
                  </a:lnTo>
                  <a:close/>
                </a:path>
              </a:pathLst>
            </a:custGeom>
            <a:solidFill>
              <a:srgbClr val="C9DEF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91054" cy="12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764479" y="8196782"/>
            <a:ext cx="7613993" cy="432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68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Laura (Cliente): ¡Gracias a ustedes!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5900" y="498751"/>
            <a:ext cx="17248671" cy="9289498"/>
            <a:chOff x="0" y="0"/>
            <a:chExt cx="4542860" cy="24466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2860" cy="2446617"/>
            </a:xfrm>
            <a:custGeom>
              <a:avLst/>
              <a:gdLst/>
              <a:ahLst/>
              <a:cxnLst/>
              <a:rect r="r" b="b" t="t" l="l"/>
              <a:pathLst>
                <a:path h="2446617" w="4542860">
                  <a:moveTo>
                    <a:pt x="1795" y="0"/>
                  </a:moveTo>
                  <a:lnTo>
                    <a:pt x="4541065" y="0"/>
                  </a:lnTo>
                  <a:cubicBezTo>
                    <a:pt x="4542056" y="0"/>
                    <a:pt x="4542860" y="804"/>
                    <a:pt x="4542860" y="1795"/>
                  </a:cubicBezTo>
                  <a:lnTo>
                    <a:pt x="4542860" y="2444821"/>
                  </a:lnTo>
                  <a:cubicBezTo>
                    <a:pt x="4542860" y="2445298"/>
                    <a:pt x="4542671" y="2445754"/>
                    <a:pt x="4542334" y="2446091"/>
                  </a:cubicBezTo>
                  <a:cubicBezTo>
                    <a:pt x="4541998" y="2446428"/>
                    <a:pt x="4541541" y="2446617"/>
                    <a:pt x="4541065" y="2446617"/>
                  </a:cubicBezTo>
                  <a:lnTo>
                    <a:pt x="1795" y="2446617"/>
                  </a:lnTo>
                  <a:cubicBezTo>
                    <a:pt x="804" y="2446617"/>
                    <a:pt x="0" y="2445813"/>
                    <a:pt x="0" y="2444821"/>
                  </a:cubicBezTo>
                  <a:lnTo>
                    <a:pt x="0" y="1795"/>
                  </a:lnTo>
                  <a:cubicBezTo>
                    <a:pt x="0" y="804"/>
                    <a:pt x="804" y="0"/>
                    <a:pt x="1795" y="0"/>
                  </a:cubicBezTo>
                  <a:close/>
                </a:path>
              </a:pathLst>
            </a:custGeom>
            <a:ln w="85725" cap="sq">
              <a:solidFill>
                <a:srgbClr val="D5EB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2860" cy="2484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33404" y="778934"/>
            <a:ext cx="12950009" cy="8729132"/>
          </a:xfrm>
          <a:custGeom>
            <a:avLst/>
            <a:gdLst/>
            <a:ahLst/>
            <a:cxnLst/>
            <a:rect r="r" b="b" t="t" l="l"/>
            <a:pathLst>
              <a:path h="8729132" w="12950009">
                <a:moveTo>
                  <a:pt x="0" y="0"/>
                </a:moveTo>
                <a:lnTo>
                  <a:pt x="12950009" y="0"/>
                </a:lnTo>
                <a:lnTo>
                  <a:pt x="12950009" y="8729132"/>
                </a:lnTo>
                <a:lnTo>
                  <a:pt x="0" y="87291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525657" y="-265043"/>
            <a:ext cx="14208584" cy="2587486"/>
            <a:chOff x="0" y="0"/>
            <a:chExt cx="794702" cy="1447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4702" cy="144721"/>
            </a:xfrm>
            <a:custGeom>
              <a:avLst/>
              <a:gdLst/>
              <a:ahLst/>
              <a:cxnLst/>
              <a:rect r="r" b="b" t="t" l="l"/>
              <a:pathLst>
                <a:path h="144721" w="794702">
                  <a:moveTo>
                    <a:pt x="0" y="0"/>
                  </a:moveTo>
                  <a:lnTo>
                    <a:pt x="794702" y="0"/>
                  </a:lnTo>
                  <a:lnTo>
                    <a:pt x="794702" y="144721"/>
                  </a:lnTo>
                  <a:lnTo>
                    <a:pt x="0" y="144721"/>
                  </a:lnTo>
                  <a:close/>
                </a:path>
              </a:pathLst>
            </a:custGeom>
            <a:solidFill>
              <a:srgbClr val="D5EB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794702" cy="192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63765" y="315037"/>
            <a:ext cx="7319162" cy="164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8"/>
              </a:lnSpc>
            </a:pPr>
            <a:r>
              <a:rPr lang="en-US" b="true" sz="5399">
                <a:solidFill>
                  <a:srgbClr val="000012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MODELO ENTIDAD RELACIÓN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B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9664" y="498751"/>
            <a:ext cx="17248671" cy="9289498"/>
            <a:chOff x="0" y="0"/>
            <a:chExt cx="4542860" cy="24466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2860" cy="2446617"/>
            </a:xfrm>
            <a:custGeom>
              <a:avLst/>
              <a:gdLst/>
              <a:ahLst/>
              <a:cxnLst/>
              <a:rect r="r" b="b" t="t" l="l"/>
              <a:pathLst>
                <a:path h="2446617" w="4542860">
                  <a:moveTo>
                    <a:pt x="1795" y="0"/>
                  </a:moveTo>
                  <a:lnTo>
                    <a:pt x="4541065" y="0"/>
                  </a:lnTo>
                  <a:cubicBezTo>
                    <a:pt x="4542056" y="0"/>
                    <a:pt x="4542860" y="804"/>
                    <a:pt x="4542860" y="1795"/>
                  </a:cubicBezTo>
                  <a:lnTo>
                    <a:pt x="4542860" y="2444821"/>
                  </a:lnTo>
                  <a:cubicBezTo>
                    <a:pt x="4542860" y="2445298"/>
                    <a:pt x="4542671" y="2445754"/>
                    <a:pt x="4542334" y="2446091"/>
                  </a:cubicBezTo>
                  <a:cubicBezTo>
                    <a:pt x="4541998" y="2446428"/>
                    <a:pt x="4541541" y="2446617"/>
                    <a:pt x="4541065" y="2446617"/>
                  </a:cubicBezTo>
                  <a:lnTo>
                    <a:pt x="1795" y="2446617"/>
                  </a:lnTo>
                  <a:cubicBezTo>
                    <a:pt x="804" y="2446617"/>
                    <a:pt x="0" y="2445813"/>
                    <a:pt x="0" y="2444821"/>
                  </a:cubicBezTo>
                  <a:lnTo>
                    <a:pt x="0" y="1795"/>
                  </a:lnTo>
                  <a:cubicBezTo>
                    <a:pt x="0" y="804"/>
                    <a:pt x="804" y="0"/>
                    <a:pt x="1795" y="0"/>
                  </a:cubicBezTo>
                  <a:close/>
                </a:path>
              </a:pathLst>
            </a:custGeom>
            <a:ln w="85725" cap="sq">
              <a:solidFill>
                <a:srgbClr val="3D989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2860" cy="2503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32400" y="1028700"/>
            <a:ext cx="15339584" cy="8628516"/>
          </a:xfrm>
          <a:custGeom>
            <a:avLst/>
            <a:gdLst/>
            <a:ahLst/>
            <a:cxnLst/>
            <a:rect r="r" b="b" t="t" l="l"/>
            <a:pathLst>
              <a:path h="8628516" w="15339584">
                <a:moveTo>
                  <a:pt x="0" y="0"/>
                </a:moveTo>
                <a:lnTo>
                  <a:pt x="15339585" y="0"/>
                </a:lnTo>
                <a:lnTo>
                  <a:pt x="15339585" y="8628516"/>
                </a:lnTo>
                <a:lnTo>
                  <a:pt x="0" y="8628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9914952" y="-133496"/>
            <a:ext cx="17097156" cy="1765897"/>
            <a:chOff x="0" y="0"/>
            <a:chExt cx="805164" cy="831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5164" cy="83162"/>
            </a:xfrm>
            <a:custGeom>
              <a:avLst/>
              <a:gdLst/>
              <a:ahLst/>
              <a:cxnLst/>
              <a:rect r="r" b="b" t="t" l="l"/>
              <a:pathLst>
                <a:path h="83162" w="805164">
                  <a:moveTo>
                    <a:pt x="0" y="0"/>
                  </a:moveTo>
                  <a:lnTo>
                    <a:pt x="805164" y="0"/>
                  </a:lnTo>
                  <a:lnTo>
                    <a:pt x="805164" y="83162"/>
                  </a:lnTo>
                  <a:lnTo>
                    <a:pt x="0" y="83162"/>
                  </a:lnTo>
                  <a:close/>
                </a:path>
              </a:pathLst>
            </a:custGeom>
            <a:solidFill>
              <a:srgbClr val="3D989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05164" cy="130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1229" y="71508"/>
            <a:ext cx="9248923" cy="13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09"/>
              </a:lnSpc>
            </a:pPr>
            <a:r>
              <a:rPr lang="en-US" sz="7578" b="true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MODELO ERR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5900" y="498751"/>
            <a:ext cx="17248671" cy="9289498"/>
            <a:chOff x="0" y="0"/>
            <a:chExt cx="4542860" cy="24466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2860" cy="2446617"/>
            </a:xfrm>
            <a:custGeom>
              <a:avLst/>
              <a:gdLst/>
              <a:ahLst/>
              <a:cxnLst/>
              <a:rect r="r" b="b" t="t" l="l"/>
              <a:pathLst>
                <a:path h="2446617" w="4542860">
                  <a:moveTo>
                    <a:pt x="1795" y="0"/>
                  </a:moveTo>
                  <a:lnTo>
                    <a:pt x="4541065" y="0"/>
                  </a:lnTo>
                  <a:cubicBezTo>
                    <a:pt x="4542056" y="0"/>
                    <a:pt x="4542860" y="804"/>
                    <a:pt x="4542860" y="1795"/>
                  </a:cubicBezTo>
                  <a:lnTo>
                    <a:pt x="4542860" y="2444821"/>
                  </a:lnTo>
                  <a:cubicBezTo>
                    <a:pt x="4542860" y="2445298"/>
                    <a:pt x="4542671" y="2445754"/>
                    <a:pt x="4542334" y="2446091"/>
                  </a:cubicBezTo>
                  <a:cubicBezTo>
                    <a:pt x="4541998" y="2446428"/>
                    <a:pt x="4541541" y="2446617"/>
                    <a:pt x="4541065" y="2446617"/>
                  </a:cubicBezTo>
                  <a:lnTo>
                    <a:pt x="1795" y="2446617"/>
                  </a:lnTo>
                  <a:cubicBezTo>
                    <a:pt x="804" y="2446617"/>
                    <a:pt x="0" y="2445813"/>
                    <a:pt x="0" y="2444821"/>
                  </a:cubicBezTo>
                  <a:lnTo>
                    <a:pt x="0" y="1795"/>
                  </a:lnTo>
                  <a:cubicBezTo>
                    <a:pt x="0" y="804"/>
                    <a:pt x="804" y="0"/>
                    <a:pt x="1795" y="0"/>
                  </a:cubicBezTo>
                  <a:close/>
                </a:path>
              </a:pathLst>
            </a:custGeom>
            <a:ln w="85725" cap="sq">
              <a:solidFill>
                <a:srgbClr val="D5EB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2860" cy="2484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43314" y="1416460"/>
            <a:ext cx="14620818" cy="8525765"/>
          </a:xfrm>
          <a:custGeom>
            <a:avLst/>
            <a:gdLst/>
            <a:ahLst/>
            <a:cxnLst/>
            <a:rect r="r" b="b" t="t" l="l"/>
            <a:pathLst>
              <a:path h="8525765" w="14620818">
                <a:moveTo>
                  <a:pt x="0" y="0"/>
                </a:moveTo>
                <a:lnTo>
                  <a:pt x="14620818" y="0"/>
                </a:lnTo>
                <a:lnTo>
                  <a:pt x="14620818" y="8525765"/>
                </a:lnTo>
                <a:lnTo>
                  <a:pt x="0" y="85257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0999"/>
            <a:ext cx="16230600" cy="121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78"/>
              </a:lnSpc>
            </a:pPr>
            <a:r>
              <a:rPr lang="en-US" b="true" sz="6984">
                <a:solidFill>
                  <a:srgbClr val="000012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MODELO RELACIONAL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98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7405" y="340019"/>
            <a:ext cx="4737156" cy="679782"/>
            <a:chOff x="0" y="0"/>
            <a:chExt cx="885436" cy="1270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5436" cy="127060"/>
            </a:xfrm>
            <a:custGeom>
              <a:avLst/>
              <a:gdLst/>
              <a:ahLst/>
              <a:cxnLst/>
              <a:rect r="r" b="b" t="t" l="l"/>
              <a:pathLst>
                <a:path h="127060" w="885436">
                  <a:moveTo>
                    <a:pt x="0" y="0"/>
                  </a:moveTo>
                  <a:lnTo>
                    <a:pt x="885436" y="0"/>
                  </a:lnTo>
                  <a:lnTo>
                    <a:pt x="885436" y="127060"/>
                  </a:lnTo>
                  <a:lnTo>
                    <a:pt x="0" y="127060"/>
                  </a:lnTo>
                  <a:close/>
                </a:path>
              </a:pathLst>
            </a:custGeom>
            <a:solidFill>
              <a:srgbClr val="D5EB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85436" cy="193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91549" y="1146137"/>
            <a:ext cx="16310441" cy="8559787"/>
          </a:xfrm>
          <a:custGeom>
            <a:avLst/>
            <a:gdLst/>
            <a:ahLst/>
            <a:cxnLst/>
            <a:rect r="r" b="b" t="t" l="l"/>
            <a:pathLst>
              <a:path h="8559787" w="16310441">
                <a:moveTo>
                  <a:pt x="0" y="0"/>
                </a:moveTo>
                <a:lnTo>
                  <a:pt x="16310441" y="0"/>
                </a:lnTo>
                <a:lnTo>
                  <a:pt x="16310441" y="8559787"/>
                </a:lnTo>
                <a:lnTo>
                  <a:pt x="0" y="8559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7405" y="496423"/>
            <a:ext cx="4737156" cy="309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8"/>
              </a:lnSpc>
            </a:pPr>
            <a:r>
              <a:rPr lang="en-US" b="true" sz="1677" spc="318">
                <a:solidFill>
                  <a:srgbClr val="3A383D"/>
                </a:solidFill>
                <a:latin typeface="Poppins Bold"/>
                <a:ea typeface="Poppins Bold"/>
                <a:cs typeface="Poppins Bold"/>
                <a:sym typeface="Poppins Bold"/>
              </a:rPr>
              <a:t>LANDING PAGE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9664" y="498751"/>
            <a:ext cx="17248671" cy="9289498"/>
            <a:chOff x="0" y="0"/>
            <a:chExt cx="4542860" cy="24466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2860" cy="2446617"/>
            </a:xfrm>
            <a:custGeom>
              <a:avLst/>
              <a:gdLst/>
              <a:ahLst/>
              <a:cxnLst/>
              <a:rect r="r" b="b" t="t" l="l"/>
              <a:pathLst>
                <a:path h="2446617" w="4542860">
                  <a:moveTo>
                    <a:pt x="1795" y="0"/>
                  </a:moveTo>
                  <a:lnTo>
                    <a:pt x="4541065" y="0"/>
                  </a:lnTo>
                  <a:cubicBezTo>
                    <a:pt x="4542056" y="0"/>
                    <a:pt x="4542860" y="804"/>
                    <a:pt x="4542860" y="1795"/>
                  </a:cubicBezTo>
                  <a:lnTo>
                    <a:pt x="4542860" y="2444821"/>
                  </a:lnTo>
                  <a:cubicBezTo>
                    <a:pt x="4542860" y="2445298"/>
                    <a:pt x="4542671" y="2445754"/>
                    <a:pt x="4542334" y="2446091"/>
                  </a:cubicBezTo>
                  <a:cubicBezTo>
                    <a:pt x="4541998" y="2446428"/>
                    <a:pt x="4541541" y="2446617"/>
                    <a:pt x="4541065" y="2446617"/>
                  </a:cubicBezTo>
                  <a:lnTo>
                    <a:pt x="1795" y="2446617"/>
                  </a:lnTo>
                  <a:cubicBezTo>
                    <a:pt x="804" y="2446617"/>
                    <a:pt x="0" y="2445813"/>
                    <a:pt x="0" y="2444821"/>
                  </a:cubicBezTo>
                  <a:lnTo>
                    <a:pt x="0" y="1795"/>
                  </a:lnTo>
                  <a:cubicBezTo>
                    <a:pt x="0" y="804"/>
                    <a:pt x="804" y="0"/>
                    <a:pt x="1795" y="0"/>
                  </a:cubicBezTo>
                  <a:close/>
                </a:path>
              </a:pathLst>
            </a:custGeom>
            <a:ln w="85725" cap="sq">
              <a:solidFill>
                <a:srgbClr val="D5EB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2860" cy="2484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390762" y="1851498"/>
            <a:ext cx="9299052" cy="6932017"/>
          </a:xfrm>
          <a:custGeom>
            <a:avLst/>
            <a:gdLst/>
            <a:ahLst/>
            <a:cxnLst/>
            <a:rect r="r" b="b" t="t" l="l"/>
            <a:pathLst>
              <a:path h="6932017" w="9299052">
                <a:moveTo>
                  <a:pt x="0" y="0"/>
                </a:moveTo>
                <a:lnTo>
                  <a:pt x="9299052" y="0"/>
                </a:lnTo>
                <a:lnTo>
                  <a:pt x="9299052" y="6932017"/>
                </a:lnTo>
                <a:lnTo>
                  <a:pt x="0" y="693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818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112940" y="3762972"/>
            <a:ext cx="13815635" cy="3109069"/>
            <a:chOff x="0" y="0"/>
            <a:chExt cx="812800" cy="1829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82912"/>
            </a:xfrm>
            <a:custGeom>
              <a:avLst/>
              <a:gdLst/>
              <a:ahLst/>
              <a:cxnLst/>
              <a:rect r="r" b="b" t="t" l="l"/>
              <a:pathLst>
                <a:path h="1829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2912"/>
                  </a:lnTo>
                  <a:lnTo>
                    <a:pt x="0" y="182912"/>
                  </a:lnTo>
                  <a:close/>
                </a:path>
              </a:pathLst>
            </a:custGeom>
            <a:solidFill>
              <a:srgbClr val="3D989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812800" cy="192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518208" y="4175916"/>
            <a:ext cx="11287004" cy="964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40"/>
              </a:lnSpc>
            </a:pPr>
            <a:r>
              <a:rPr lang="en-US" b="true" sz="6961">
                <a:solidFill>
                  <a:srgbClr val="F7FFFD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PROYECTO ASIGNADO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01334" y="5203206"/>
            <a:ext cx="9629535" cy="1374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0"/>
              </a:lnSpc>
            </a:pPr>
            <a:r>
              <a:rPr lang="en-US" sz="2200" b="true">
                <a:solidFill>
                  <a:srgbClr val="F7FFFD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Recuperación de información territorial a partir de datos abiertos heterogéneos mediante la construcción de un almacén de datos para la gestión del agua en la Ciudad de México.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B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9664" y="566027"/>
            <a:ext cx="17248671" cy="9289498"/>
            <a:chOff x="0" y="0"/>
            <a:chExt cx="4542860" cy="24466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2860" cy="2446617"/>
            </a:xfrm>
            <a:custGeom>
              <a:avLst/>
              <a:gdLst/>
              <a:ahLst/>
              <a:cxnLst/>
              <a:rect r="r" b="b" t="t" l="l"/>
              <a:pathLst>
                <a:path h="2446617" w="4542860">
                  <a:moveTo>
                    <a:pt x="1795" y="0"/>
                  </a:moveTo>
                  <a:lnTo>
                    <a:pt x="4541065" y="0"/>
                  </a:lnTo>
                  <a:cubicBezTo>
                    <a:pt x="4542056" y="0"/>
                    <a:pt x="4542860" y="804"/>
                    <a:pt x="4542860" y="1795"/>
                  </a:cubicBezTo>
                  <a:lnTo>
                    <a:pt x="4542860" y="2444821"/>
                  </a:lnTo>
                  <a:cubicBezTo>
                    <a:pt x="4542860" y="2445298"/>
                    <a:pt x="4542671" y="2445754"/>
                    <a:pt x="4542334" y="2446091"/>
                  </a:cubicBezTo>
                  <a:cubicBezTo>
                    <a:pt x="4541998" y="2446428"/>
                    <a:pt x="4541541" y="2446617"/>
                    <a:pt x="4541065" y="2446617"/>
                  </a:cubicBezTo>
                  <a:lnTo>
                    <a:pt x="1795" y="2446617"/>
                  </a:lnTo>
                  <a:cubicBezTo>
                    <a:pt x="804" y="2446617"/>
                    <a:pt x="0" y="2445813"/>
                    <a:pt x="0" y="2444821"/>
                  </a:cubicBezTo>
                  <a:lnTo>
                    <a:pt x="0" y="1795"/>
                  </a:lnTo>
                  <a:cubicBezTo>
                    <a:pt x="0" y="804"/>
                    <a:pt x="804" y="0"/>
                    <a:pt x="1795" y="0"/>
                  </a:cubicBezTo>
                  <a:close/>
                </a:path>
              </a:pathLst>
            </a:custGeom>
            <a:ln w="85725" cap="sq">
              <a:solidFill>
                <a:srgbClr val="00001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2860" cy="2503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3230" y="1432243"/>
            <a:ext cx="15710759" cy="2012550"/>
            <a:chOff x="0" y="0"/>
            <a:chExt cx="3172519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2520" cy="406400"/>
            </a:xfrm>
            <a:custGeom>
              <a:avLst/>
              <a:gdLst/>
              <a:ahLst/>
              <a:cxnLst/>
              <a:rect r="r" b="b" t="t" l="l"/>
              <a:pathLst>
                <a:path h="406400" w="3172520">
                  <a:moveTo>
                    <a:pt x="2969320" y="0"/>
                  </a:moveTo>
                  <a:cubicBezTo>
                    <a:pt x="3081544" y="0"/>
                    <a:pt x="3172520" y="90976"/>
                    <a:pt x="3172520" y="203200"/>
                  </a:cubicBezTo>
                  <a:cubicBezTo>
                    <a:pt x="3172520" y="315424"/>
                    <a:pt x="3081544" y="406400"/>
                    <a:pt x="29693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5EB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17251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4246642" y="1017742"/>
            <a:ext cx="23737071" cy="1498483"/>
            <a:chOff x="0" y="0"/>
            <a:chExt cx="1152928" cy="72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52928" cy="72783"/>
            </a:xfrm>
            <a:custGeom>
              <a:avLst/>
              <a:gdLst/>
              <a:ahLst/>
              <a:cxnLst/>
              <a:rect r="r" b="b" t="t" l="l"/>
              <a:pathLst>
                <a:path h="72783" w="1152928">
                  <a:moveTo>
                    <a:pt x="0" y="0"/>
                  </a:moveTo>
                  <a:lnTo>
                    <a:pt x="1152928" y="0"/>
                  </a:lnTo>
                  <a:lnTo>
                    <a:pt x="1152928" y="72783"/>
                  </a:lnTo>
                  <a:lnTo>
                    <a:pt x="0" y="72783"/>
                  </a:lnTo>
                  <a:close/>
                </a:path>
              </a:pathLst>
            </a:custGeom>
            <a:solidFill>
              <a:srgbClr val="3D989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152928" cy="82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243257" y="6743700"/>
            <a:ext cx="7690706" cy="996897"/>
          </a:xfrm>
          <a:custGeom>
            <a:avLst/>
            <a:gdLst/>
            <a:ahLst/>
            <a:cxnLst/>
            <a:rect r="r" b="b" t="t" l="l"/>
            <a:pathLst>
              <a:path h="996897" w="7690706">
                <a:moveTo>
                  <a:pt x="0" y="0"/>
                </a:moveTo>
                <a:lnTo>
                  <a:pt x="7690706" y="0"/>
                </a:lnTo>
                <a:lnTo>
                  <a:pt x="7690706" y="996897"/>
                </a:lnTo>
                <a:lnTo>
                  <a:pt x="0" y="9968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318" r="-376732" b="-35416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38703" y="4316760"/>
            <a:ext cx="15920597" cy="1103050"/>
          </a:xfrm>
          <a:custGeom>
            <a:avLst/>
            <a:gdLst/>
            <a:ahLst/>
            <a:cxnLst/>
            <a:rect r="r" b="b" t="t" l="l"/>
            <a:pathLst>
              <a:path h="1103050" w="15920597">
                <a:moveTo>
                  <a:pt x="0" y="0"/>
                </a:moveTo>
                <a:lnTo>
                  <a:pt x="15920597" y="0"/>
                </a:lnTo>
                <a:lnTo>
                  <a:pt x="15920597" y="1103050"/>
                </a:lnTo>
                <a:lnTo>
                  <a:pt x="0" y="1103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8" t="0" r="-58" b="-1102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18792" y="1119542"/>
            <a:ext cx="16739636" cy="131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0"/>
              </a:lnSpc>
            </a:pPr>
            <a:r>
              <a:rPr lang="en-US" b="true" sz="7621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EJECUCIÓN DEL SISTEMA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98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7026" y="1571551"/>
            <a:ext cx="22102052" cy="7415323"/>
            <a:chOff x="0" y="0"/>
            <a:chExt cx="5821117" cy="19530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21117" cy="1953007"/>
            </a:xfrm>
            <a:custGeom>
              <a:avLst/>
              <a:gdLst/>
              <a:ahLst/>
              <a:cxnLst/>
              <a:rect r="r" b="b" t="t" l="l"/>
              <a:pathLst>
                <a:path h="1953007" w="5821117">
                  <a:moveTo>
                    <a:pt x="1401" y="0"/>
                  </a:moveTo>
                  <a:lnTo>
                    <a:pt x="5819716" y="0"/>
                  </a:lnTo>
                  <a:cubicBezTo>
                    <a:pt x="5820087" y="0"/>
                    <a:pt x="5820444" y="148"/>
                    <a:pt x="5820706" y="410"/>
                  </a:cubicBezTo>
                  <a:cubicBezTo>
                    <a:pt x="5820969" y="673"/>
                    <a:pt x="5821117" y="1030"/>
                    <a:pt x="5821117" y="1401"/>
                  </a:cubicBezTo>
                  <a:lnTo>
                    <a:pt x="5821117" y="1951606"/>
                  </a:lnTo>
                  <a:cubicBezTo>
                    <a:pt x="5821117" y="1952380"/>
                    <a:pt x="5820489" y="1953007"/>
                    <a:pt x="5819716" y="1953007"/>
                  </a:cubicBezTo>
                  <a:lnTo>
                    <a:pt x="1401" y="1953007"/>
                  </a:lnTo>
                  <a:cubicBezTo>
                    <a:pt x="627" y="1953007"/>
                    <a:pt x="0" y="1952380"/>
                    <a:pt x="0" y="1951606"/>
                  </a:cubicBezTo>
                  <a:lnTo>
                    <a:pt x="0" y="1401"/>
                  </a:lnTo>
                  <a:cubicBezTo>
                    <a:pt x="0" y="627"/>
                    <a:pt x="627" y="0"/>
                    <a:pt x="1401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D5EB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821117" cy="1991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187421" y="1877313"/>
            <a:ext cx="13084230" cy="6803800"/>
          </a:xfrm>
          <a:custGeom>
            <a:avLst/>
            <a:gdLst/>
            <a:ahLst/>
            <a:cxnLst/>
            <a:rect r="r" b="b" t="t" l="l"/>
            <a:pathLst>
              <a:path h="6803800" w="13084230">
                <a:moveTo>
                  <a:pt x="0" y="0"/>
                </a:moveTo>
                <a:lnTo>
                  <a:pt x="13084230" y="0"/>
                </a:lnTo>
                <a:lnTo>
                  <a:pt x="13084230" y="6803800"/>
                </a:lnTo>
                <a:lnTo>
                  <a:pt x="0" y="6803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72359" y="299263"/>
            <a:ext cx="14163979" cy="127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0"/>
              </a:lnSpc>
            </a:pPr>
            <a:r>
              <a:rPr lang="en-US" b="true" sz="8811">
                <a:solidFill>
                  <a:srgbClr val="000012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VERSIÓN ESTÁTICA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9590" y="1028700"/>
            <a:ext cx="16068821" cy="8229600"/>
            <a:chOff x="0" y="0"/>
            <a:chExt cx="4232117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32117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32117">
                  <a:moveTo>
                    <a:pt x="1927" y="0"/>
                  </a:moveTo>
                  <a:lnTo>
                    <a:pt x="4230190" y="0"/>
                  </a:lnTo>
                  <a:cubicBezTo>
                    <a:pt x="4230701" y="0"/>
                    <a:pt x="4231191" y="203"/>
                    <a:pt x="4231553" y="564"/>
                  </a:cubicBezTo>
                  <a:cubicBezTo>
                    <a:pt x="4231914" y="926"/>
                    <a:pt x="4232117" y="1416"/>
                    <a:pt x="4232117" y="1927"/>
                  </a:cubicBezTo>
                  <a:lnTo>
                    <a:pt x="4232117" y="2165540"/>
                  </a:lnTo>
                  <a:cubicBezTo>
                    <a:pt x="4232117" y="2166051"/>
                    <a:pt x="4231914" y="2166541"/>
                    <a:pt x="4231553" y="2166902"/>
                  </a:cubicBezTo>
                  <a:cubicBezTo>
                    <a:pt x="4231191" y="2167264"/>
                    <a:pt x="4230701" y="2167467"/>
                    <a:pt x="4230190" y="2167467"/>
                  </a:cubicBezTo>
                  <a:lnTo>
                    <a:pt x="1927" y="2167467"/>
                  </a:lnTo>
                  <a:cubicBezTo>
                    <a:pt x="1416" y="2167467"/>
                    <a:pt x="926" y="2167264"/>
                    <a:pt x="564" y="2166902"/>
                  </a:cubicBezTo>
                  <a:cubicBezTo>
                    <a:pt x="203" y="2166541"/>
                    <a:pt x="0" y="2166051"/>
                    <a:pt x="0" y="2165540"/>
                  </a:cubicBezTo>
                  <a:lnTo>
                    <a:pt x="0" y="1927"/>
                  </a:lnTo>
                  <a:cubicBezTo>
                    <a:pt x="0" y="1416"/>
                    <a:pt x="203" y="926"/>
                    <a:pt x="564" y="564"/>
                  </a:cubicBezTo>
                  <a:cubicBezTo>
                    <a:pt x="926" y="203"/>
                    <a:pt x="1416" y="0"/>
                    <a:pt x="1927" y="0"/>
                  </a:cubicBezTo>
                  <a:close/>
                </a:path>
              </a:pathLst>
            </a:custGeom>
            <a:ln w="85725" cap="sq">
              <a:solidFill>
                <a:srgbClr val="63B6BA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32117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50320" y="-92103"/>
            <a:ext cx="17479131" cy="3096766"/>
            <a:chOff x="0" y="0"/>
            <a:chExt cx="812800" cy="1440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44003"/>
            </a:xfrm>
            <a:custGeom>
              <a:avLst/>
              <a:gdLst/>
              <a:ahLst/>
              <a:cxnLst/>
              <a:rect r="r" b="b" t="t" l="l"/>
              <a:pathLst>
                <a:path h="14400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4003"/>
                  </a:lnTo>
                  <a:lnTo>
                    <a:pt x="0" y="144003"/>
                  </a:lnTo>
                  <a:close/>
                </a:path>
              </a:pathLst>
            </a:custGeom>
            <a:solidFill>
              <a:srgbClr val="3D989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812800" cy="153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288451" y="1456280"/>
            <a:ext cx="12097941" cy="7467622"/>
          </a:xfrm>
          <a:custGeom>
            <a:avLst/>
            <a:gdLst/>
            <a:ahLst/>
            <a:cxnLst/>
            <a:rect r="r" b="b" t="t" l="l"/>
            <a:pathLst>
              <a:path h="7467622" w="12097941">
                <a:moveTo>
                  <a:pt x="0" y="0"/>
                </a:moveTo>
                <a:lnTo>
                  <a:pt x="12097941" y="0"/>
                </a:lnTo>
                <a:lnTo>
                  <a:pt x="12097941" y="7467621"/>
                </a:lnTo>
                <a:lnTo>
                  <a:pt x="0" y="74676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950320" y="209467"/>
            <a:ext cx="11085891" cy="97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2"/>
              </a:lnSpc>
            </a:pPr>
            <a:r>
              <a:rPr lang="en-US" sz="6066" b="true">
                <a:solidFill>
                  <a:srgbClr val="3A383D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VERSIÓN CON BACKEND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740918"/>
            <a:ext cx="16068821" cy="8229600"/>
            <a:chOff x="0" y="0"/>
            <a:chExt cx="4232117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32117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32117">
                  <a:moveTo>
                    <a:pt x="1927" y="0"/>
                  </a:moveTo>
                  <a:lnTo>
                    <a:pt x="4230190" y="0"/>
                  </a:lnTo>
                  <a:cubicBezTo>
                    <a:pt x="4230701" y="0"/>
                    <a:pt x="4231191" y="203"/>
                    <a:pt x="4231553" y="564"/>
                  </a:cubicBezTo>
                  <a:cubicBezTo>
                    <a:pt x="4231914" y="926"/>
                    <a:pt x="4232117" y="1416"/>
                    <a:pt x="4232117" y="1927"/>
                  </a:cubicBezTo>
                  <a:lnTo>
                    <a:pt x="4232117" y="2165540"/>
                  </a:lnTo>
                  <a:cubicBezTo>
                    <a:pt x="4232117" y="2166051"/>
                    <a:pt x="4231914" y="2166541"/>
                    <a:pt x="4231553" y="2166902"/>
                  </a:cubicBezTo>
                  <a:cubicBezTo>
                    <a:pt x="4231191" y="2167264"/>
                    <a:pt x="4230701" y="2167467"/>
                    <a:pt x="4230190" y="2167467"/>
                  </a:cubicBezTo>
                  <a:lnTo>
                    <a:pt x="1927" y="2167467"/>
                  </a:lnTo>
                  <a:cubicBezTo>
                    <a:pt x="1416" y="2167467"/>
                    <a:pt x="926" y="2167264"/>
                    <a:pt x="564" y="2166902"/>
                  </a:cubicBezTo>
                  <a:cubicBezTo>
                    <a:pt x="203" y="2166541"/>
                    <a:pt x="0" y="2166051"/>
                    <a:pt x="0" y="2165540"/>
                  </a:cubicBezTo>
                  <a:lnTo>
                    <a:pt x="0" y="1927"/>
                  </a:lnTo>
                  <a:cubicBezTo>
                    <a:pt x="0" y="1416"/>
                    <a:pt x="203" y="926"/>
                    <a:pt x="564" y="564"/>
                  </a:cubicBezTo>
                  <a:cubicBezTo>
                    <a:pt x="926" y="203"/>
                    <a:pt x="1416" y="0"/>
                    <a:pt x="1927" y="0"/>
                  </a:cubicBezTo>
                  <a:close/>
                </a:path>
              </a:pathLst>
            </a:custGeom>
            <a:ln w="85725" cap="sq">
              <a:solidFill>
                <a:srgbClr val="63B6BA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32117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50320" y="-92103"/>
            <a:ext cx="17479131" cy="3096766"/>
            <a:chOff x="0" y="0"/>
            <a:chExt cx="812800" cy="1440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44003"/>
            </a:xfrm>
            <a:custGeom>
              <a:avLst/>
              <a:gdLst/>
              <a:ahLst/>
              <a:cxnLst/>
              <a:rect r="r" b="b" t="t" l="l"/>
              <a:pathLst>
                <a:path h="14400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4003"/>
                  </a:lnTo>
                  <a:lnTo>
                    <a:pt x="0" y="144003"/>
                  </a:lnTo>
                  <a:close/>
                </a:path>
              </a:pathLst>
            </a:custGeom>
            <a:solidFill>
              <a:srgbClr val="3D989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812800" cy="153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24947" y="943052"/>
            <a:ext cx="6664938" cy="97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2"/>
              </a:lnSpc>
            </a:pPr>
            <a:r>
              <a:rPr lang="en-US" sz="6066" b="true">
                <a:solidFill>
                  <a:srgbClr val="F7FFFD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DIFICULTADES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32692" y="3314610"/>
            <a:ext cx="6211841" cy="3819156"/>
            <a:chOff x="0" y="0"/>
            <a:chExt cx="288858" cy="1775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8858" cy="177595"/>
            </a:xfrm>
            <a:custGeom>
              <a:avLst/>
              <a:gdLst/>
              <a:ahLst/>
              <a:cxnLst/>
              <a:rect r="r" b="b" t="t" l="l"/>
              <a:pathLst>
                <a:path h="177595" w="288858">
                  <a:moveTo>
                    <a:pt x="0" y="0"/>
                  </a:moveTo>
                  <a:lnTo>
                    <a:pt x="288858" y="0"/>
                  </a:lnTo>
                  <a:lnTo>
                    <a:pt x="288858" y="177595"/>
                  </a:lnTo>
                  <a:lnTo>
                    <a:pt x="0" y="177595"/>
                  </a:lnTo>
                  <a:close/>
                </a:path>
              </a:pathLst>
            </a:custGeom>
            <a:solidFill>
              <a:srgbClr val="3D989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88858" cy="187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44121" y="4695052"/>
            <a:ext cx="6211841" cy="4432262"/>
            <a:chOff x="0" y="0"/>
            <a:chExt cx="288858" cy="2061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8858" cy="206105"/>
            </a:xfrm>
            <a:custGeom>
              <a:avLst/>
              <a:gdLst/>
              <a:ahLst/>
              <a:cxnLst/>
              <a:rect r="r" b="b" t="t" l="l"/>
              <a:pathLst>
                <a:path h="206105" w="288858">
                  <a:moveTo>
                    <a:pt x="0" y="0"/>
                  </a:moveTo>
                  <a:lnTo>
                    <a:pt x="288858" y="0"/>
                  </a:lnTo>
                  <a:lnTo>
                    <a:pt x="288858" y="206105"/>
                  </a:lnTo>
                  <a:lnTo>
                    <a:pt x="0" y="206105"/>
                  </a:lnTo>
                  <a:close/>
                </a:path>
              </a:pathLst>
            </a:custGeom>
            <a:solidFill>
              <a:srgbClr val="3D989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88858" cy="21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32692" y="3410623"/>
            <a:ext cx="621184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7FFF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Error 1: puerto 5433 ocupado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44121" y="4926330"/>
            <a:ext cx="621184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7FFFD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Error 2: Problemas con el contedor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90783" y="4015204"/>
            <a:ext cx="5895659" cy="2815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39"/>
              </a:lnSpc>
              <a:spcBef>
                <a:spcPct val="0"/>
              </a:spcBef>
            </a:pPr>
            <a:r>
              <a:rPr lang="en-US" sz="202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El puerto 5433 de la computadora ya se encontraba siendo utilizado por un contenedor hecho con anterioridad, así que simplemente se apagó. Pero aun así no se uso, ya que a la hora de conectarse con la base de datos ese puerto fue el utilizado para la instalación de postgres y solo respondía con la contraseña de instalación, así que se decidió ocupar el puerto 5434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02212" y="5399145"/>
            <a:ext cx="5895659" cy="352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39"/>
              </a:lnSpc>
              <a:spcBef>
                <a:spcPct val="0"/>
              </a:spcBef>
            </a:pPr>
            <a:r>
              <a:rPr lang="en-US" sz="2028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Al primer intento el contenedor no arrancó por puerto ocupado, despues se volvio a intentar y corria pero no estaba expuesto a ningun puerto así que se dio de baja y se corpobó que 5433 estuviera libre y se volvio a construir. Pero aun asi tuvimos fallos en que se saltaba el proceso ETL por los intentos anteriores, aun habia datos guardados y no se reinicio la base, asi que dimos de baja los volumenes y volvimos a cargar el contenedor y finalmente salio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9590" y="1028700"/>
            <a:ext cx="16068821" cy="8229600"/>
            <a:chOff x="0" y="0"/>
            <a:chExt cx="4232117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32117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32117">
                  <a:moveTo>
                    <a:pt x="1927" y="0"/>
                  </a:moveTo>
                  <a:lnTo>
                    <a:pt x="4230190" y="0"/>
                  </a:lnTo>
                  <a:cubicBezTo>
                    <a:pt x="4230701" y="0"/>
                    <a:pt x="4231191" y="203"/>
                    <a:pt x="4231553" y="564"/>
                  </a:cubicBezTo>
                  <a:cubicBezTo>
                    <a:pt x="4231914" y="926"/>
                    <a:pt x="4232117" y="1416"/>
                    <a:pt x="4232117" y="1927"/>
                  </a:cubicBezTo>
                  <a:lnTo>
                    <a:pt x="4232117" y="2165540"/>
                  </a:lnTo>
                  <a:cubicBezTo>
                    <a:pt x="4232117" y="2166051"/>
                    <a:pt x="4231914" y="2166541"/>
                    <a:pt x="4231553" y="2166902"/>
                  </a:cubicBezTo>
                  <a:cubicBezTo>
                    <a:pt x="4231191" y="2167264"/>
                    <a:pt x="4230701" y="2167467"/>
                    <a:pt x="4230190" y="2167467"/>
                  </a:cubicBezTo>
                  <a:lnTo>
                    <a:pt x="1927" y="2167467"/>
                  </a:lnTo>
                  <a:cubicBezTo>
                    <a:pt x="1416" y="2167467"/>
                    <a:pt x="926" y="2167264"/>
                    <a:pt x="564" y="2166902"/>
                  </a:cubicBezTo>
                  <a:cubicBezTo>
                    <a:pt x="203" y="2166541"/>
                    <a:pt x="0" y="2166051"/>
                    <a:pt x="0" y="2165540"/>
                  </a:cubicBezTo>
                  <a:lnTo>
                    <a:pt x="0" y="1927"/>
                  </a:lnTo>
                  <a:cubicBezTo>
                    <a:pt x="0" y="1416"/>
                    <a:pt x="203" y="926"/>
                    <a:pt x="564" y="564"/>
                  </a:cubicBezTo>
                  <a:cubicBezTo>
                    <a:pt x="926" y="203"/>
                    <a:pt x="1416" y="0"/>
                    <a:pt x="1927" y="0"/>
                  </a:cubicBezTo>
                  <a:close/>
                </a:path>
              </a:pathLst>
            </a:custGeom>
            <a:ln w="85725" cap="sq">
              <a:solidFill>
                <a:srgbClr val="D5EB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32117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90356" y="5104442"/>
            <a:ext cx="324173" cy="3241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5EB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497053" y="1657735"/>
            <a:ext cx="21762711" cy="2012550"/>
            <a:chOff x="0" y="0"/>
            <a:chExt cx="4394608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94608" cy="406400"/>
            </a:xfrm>
            <a:custGeom>
              <a:avLst/>
              <a:gdLst/>
              <a:ahLst/>
              <a:cxnLst/>
              <a:rect r="r" b="b" t="t" l="l"/>
              <a:pathLst>
                <a:path h="406400" w="4394608">
                  <a:moveTo>
                    <a:pt x="4191408" y="0"/>
                  </a:moveTo>
                  <a:cubicBezTo>
                    <a:pt x="4303632" y="0"/>
                    <a:pt x="4394608" y="90976"/>
                    <a:pt x="4394608" y="203200"/>
                  </a:cubicBezTo>
                  <a:cubicBezTo>
                    <a:pt x="4394608" y="315424"/>
                    <a:pt x="4303632" y="406400"/>
                    <a:pt x="419140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D989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39460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09590" y="2097558"/>
            <a:ext cx="16230600" cy="128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b="true" sz="7400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ARTÍCULOS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0406" y="4937391"/>
            <a:ext cx="15227816" cy="665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4" indent="-410212" lvl="1">
              <a:lnSpc>
                <a:spcPts val="5320"/>
              </a:lnSpc>
              <a:buFont typeface="Arial"/>
              <a:buChar char="•"/>
            </a:pPr>
            <a:r>
              <a:rPr lang="en-US" b="true" sz="3800" i="true">
                <a:solidFill>
                  <a:srgbClr val="000012"/>
                </a:solidFill>
                <a:latin typeface="Cocomat Pro Bold Italics"/>
                <a:ea typeface="Cocomat Pro Bold Italics"/>
                <a:cs typeface="Cocomat Pro Bold Italics"/>
                <a:sym typeface="Cocomat Pro Bold Italics"/>
              </a:rPr>
              <a:t>CockroachDB: The Resilient Geo-Distributed SQL Database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90356" y="6102494"/>
            <a:ext cx="8639208" cy="1620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839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Taft, R., Sharif, I., Matei, A., VanBenschoten, N., Lewis, J., Grieger, T., Niemi, K., </a:t>
            </a:r>
          </a:p>
          <a:p>
            <a:pPr algn="l">
              <a:lnSpc>
                <a:spcPts val="2575"/>
              </a:lnSpc>
            </a:pPr>
            <a:r>
              <a:rPr lang="en-US" sz="1839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Woods, A., Birzin, A., Poss, R., Bardea, P., Ranade, A., Darnell, B., Gruneir, B., Jaffray, </a:t>
            </a:r>
          </a:p>
          <a:p>
            <a:pPr algn="l">
              <a:lnSpc>
                <a:spcPts val="2575"/>
              </a:lnSpc>
            </a:pPr>
            <a:r>
              <a:rPr lang="en-US" sz="1839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J., Zhang, L., &amp; Mattis, P. (2020). CockroachDB: The resilient geo-distributed SQL </a:t>
            </a:r>
          </a:p>
          <a:p>
            <a:pPr algn="l">
              <a:lnSpc>
                <a:spcPts val="2575"/>
              </a:lnSpc>
            </a:pPr>
            <a:r>
              <a:rPr lang="en-US" sz="1839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database. Proceedings of the 2020 ACM SIGMOD International Conference on </a:t>
            </a:r>
          </a:p>
          <a:p>
            <a:pPr algn="l">
              <a:lnSpc>
                <a:spcPts val="2575"/>
              </a:lnSpc>
            </a:pPr>
            <a:r>
              <a:rPr lang="en-US" sz="1839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Management of Data, 1493–1509. https://doi.org/10.1145/3318464.3386134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068821" cy="8229600"/>
            <a:chOff x="0" y="0"/>
            <a:chExt cx="4232117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32117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32117">
                  <a:moveTo>
                    <a:pt x="1927" y="0"/>
                  </a:moveTo>
                  <a:lnTo>
                    <a:pt x="4230190" y="0"/>
                  </a:lnTo>
                  <a:cubicBezTo>
                    <a:pt x="4230701" y="0"/>
                    <a:pt x="4231191" y="203"/>
                    <a:pt x="4231553" y="564"/>
                  </a:cubicBezTo>
                  <a:cubicBezTo>
                    <a:pt x="4231914" y="926"/>
                    <a:pt x="4232117" y="1416"/>
                    <a:pt x="4232117" y="1927"/>
                  </a:cubicBezTo>
                  <a:lnTo>
                    <a:pt x="4232117" y="2165540"/>
                  </a:lnTo>
                  <a:cubicBezTo>
                    <a:pt x="4232117" y="2166051"/>
                    <a:pt x="4231914" y="2166541"/>
                    <a:pt x="4231553" y="2166902"/>
                  </a:cubicBezTo>
                  <a:cubicBezTo>
                    <a:pt x="4231191" y="2167264"/>
                    <a:pt x="4230701" y="2167467"/>
                    <a:pt x="4230190" y="2167467"/>
                  </a:cubicBezTo>
                  <a:lnTo>
                    <a:pt x="1927" y="2167467"/>
                  </a:lnTo>
                  <a:cubicBezTo>
                    <a:pt x="1416" y="2167467"/>
                    <a:pt x="926" y="2167264"/>
                    <a:pt x="564" y="2166902"/>
                  </a:cubicBezTo>
                  <a:cubicBezTo>
                    <a:pt x="203" y="2166541"/>
                    <a:pt x="0" y="2166051"/>
                    <a:pt x="0" y="2165540"/>
                  </a:cubicBezTo>
                  <a:lnTo>
                    <a:pt x="0" y="1927"/>
                  </a:lnTo>
                  <a:cubicBezTo>
                    <a:pt x="0" y="1416"/>
                    <a:pt x="203" y="926"/>
                    <a:pt x="564" y="564"/>
                  </a:cubicBezTo>
                  <a:cubicBezTo>
                    <a:pt x="926" y="203"/>
                    <a:pt x="1416" y="0"/>
                    <a:pt x="1927" y="0"/>
                  </a:cubicBezTo>
                  <a:close/>
                </a:path>
              </a:pathLst>
            </a:custGeom>
            <a:ln w="85725" cap="sq">
              <a:solidFill>
                <a:srgbClr val="D5EB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32117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90356" y="1610756"/>
            <a:ext cx="324173" cy="3241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5EB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23721" y="1437903"/>
            <a:ext cx="15488905" cy="199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4" indent="-410212" lvl="1">
              <a:lnSpc>
                <a:spcPts val="5320"/>
              </a:lnSpc>
              <a:buFont typeface="Arial"/>
              <a:buChar char="•"/>
            </a:pPr>
            <a:r>
              <a:rPr lang="en-US" b="true" sz="3800" i="true">
                <a:solidFill>
                  <a:srgbClr val="000012"/>
                </a:solidFill>
                <a:latin typeface="Cocomat Pro Bold Italics"/>
                <a:ea typeface="Cocomat Pro Bold Italics"/>
                <a:cs typeface="Cocomat Pro Bold Italics"/>
                <a:sym typeface="Cocomat Pro Bold Italics"/>
              </a:rPr>
              <a:t>Amazon Aurora: On Avoiding Distributed Consensus for I/Os, Commits, and Membership Changes</a:t>
            </a:r>
          </a:p>
          <a:p>
            <a:pPr algn="l">
              <a:lnSpc>
                <a:spcPts val="53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514451" y="3197450"/>
            <a:ext cx="8639208" cy="194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839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Verbitski, A., Gupta, A., Saha, D., Corey, J., Gupta, K., Brahmadesam, M., Mittal, R., </a:t>
            </a:r>
          </a:p>
          <a:p>
            <a:pPr algn="l">
              <a:lnSpc>
                <a:spcPts val="2575"/>
              </a:lnSpc>
            </a:pPr>
            <a:r>
              <a:rPr lang="en-US" sz="1839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Krishnamurthy, S., Maurice, S., Kharatishvili, T., &amp; Bao, X. (2018). Amazon Aurora: On </a:t>
            </a:r>
          </a:p>
          <a:p>
            <a:pPr algn="l">
              <a:lnSpc>
                <a:spcPts val="2575"/>
              </a:lnSpc>
            </a:pPr>
            <a:r>
              <a:rPr lang="en-US" sz="1839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avoiding distributed consensus for I/Os, commits, and membership changes. </a:t>
            </a:r>
          </a:p>
          <a:p>
            <a:pPr algn="l">
              <a:lnSpc>
                <a:spcPts val="2575"/>
              </a:lnSpc>
            </a:pPr>
            <a:r>
              <a:rPr lang="en-US" sz="1839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Proceedings of the 2018 International Conference on Management of Data, 789–796. </a:t>
            </a:r>
          </a:p>
          <a:p>
            <a:pPr algn="l">
              <a:lnSpc>
                <a:spcPts val="2575"/>
              </a:lnSpc>
            </a:pPr>
            <a:r>
              <a:rPr lang="en-US" sz="1839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https://doi.org/10.1145/3183713.3196937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52443" y="7055901"/>
            <a:ext cx="8639208" cy="129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839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Nathan, S., Govindarajan, C., Saraf, A., Sethi, M., &amp; Jayachandran, P. (2019). </a:t>
            </a:r>
          </a:p>
          <a:p>
            <a:pPr algn="l">
              <a:lnSpc>
                <a:spcPts val="2575"/>
              </a:lnSpc>
            </a:pPr>
            <a:r>
              <a:rPr lang="en-US" sz="1839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Blockchain meets database: Design and implementation of a blockchain relational </a:t>
            </a:r>
          </a:p>
          <a:p>
            <a:pPr algn="l">
              <a:lnSpc>
                <a:spcPts val="2575"/>
              </a:lnSpc>
            </a:pPr>
            <a:r>
              <a:rPr lang="en-US" sz="1839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database. Proceedings of the VLDB Endowment, 12(11), 1539–1552. </a:t>
            </a:r>
          </a:p>
          <a:p>
            <a:pPr algn="l">
              <a:lnSpc>
                <a:spcPts val="2575"/>
              </a:lnSpc>
            </a:pPr>
            <a:r>
              <a:rPr lang="en-US" sz="1839">
                <a:solidFill>
                  <a:srgbClr val="000012"/>
                </a:solidFill>
                <a:latin typeface="Questrial"/>
                <a:ea typeface="Questrial"/>
                <a:cs typeface="Questrial"/>
                <a:sym typeface="Questrial"/>
              </a:rPr>
              <a:t>https://doi.org/10.14778/3342263.3342632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090356" y="5583008"/>
            <a:ext cx="324173" cy="32417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5EB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23721" y="5414536"/>
            <a:ext cx="15488905" cy="133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4" indent="-410212" lvl="1">
              <a:lnSpc>
                <a:spcPts val="5320"/>
              </a:lnSpc>
              <a:buFont typeface="Arial"/>
              <a:buChar char="•"/>
            </a:pPr>
            <a:r>
              <a:rPr lang="en-US" b="true" sz="3800" i="true">
                <a:solidFill>
                  <a:srgbClr val="000012"/>
                </a:solidFill>
                <a:latin typeface="Cocomat Pro Bold Italics"/>
                <a:ea typeface="Cocomat Pro Bold Italics"/>
                <a:cs typeface="Cocomat Pro Bold Italics"/>
                <a:sym typeface="Cocomat Pro Bold Italics"/>
              </a:rPr>
              <a:t>Blockchain meets database: design and implementation of a blockchain relational database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98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2655" y="461995"/>
            <a:ext cx="17322690" cy="9363009"/>
            <a:chOff x="0" y="0"/>
            <a:chExt cx="4562355" cy="24659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2354" cy="2465978"/>
            </a:xfrm>
            <a:custGeom>
              <a:avLst/>
              <a:gdLst/>
              <a:ahLst/>
              <a:cxnLst/>
              <a:rect r="r" b="b" t="t" l="l"/>
              <a:pathLst>
                <a:path h="2465978" w="4562354">
                  <a:moveTo>
                    <a:pt x="1788" y="0"/>
                  </a:moveTo>
                  <a:lnTo>
                    <a:pt x="4560567" y="0"/>
                  </a:lnTo>
                  <a:cubicBezTo>
                    <a:pt x="4561554" y="0"/>
                    <a:pt x="4562354" y="800"/>
                    <a:pt x="4562354" y="1788"/>
                  </a:cubicBezTo>
                  <a:lnTo>
                    <a:pt x="4562354" y="2464190"/>
                  </a:lnTo>
                  <a:cubicBezTo>
                    <a:pt x="4562354" y="2465177"/>
                    <a:pt x="4561554" y="2465978"/>
                    <a:pt x="4560567" y="2465978"/>
                  </a:cubicBezTo>
                  <a:lnTo>
                    <a:pt x="1788" y="2465978"/>
                  </a:lnTo>
                  <a:cubicBezTo>
                    <a:pt x="800" y="2465978"/>
                    <a:pt x="0" y="2465177"/>
                    <a:pt x="0" y="2464190"/>
                  </a:cubicBezTo>
                  <a:lnTo>
                    <a:pt x="0" y="1788"/>
                  </a:lnTo>
                  <a:cubicBezTo>
                    <a:pt x="0" y="800"/>
                    <a:pt x="800" y="0"/>
                    <a:pt x="1788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D5EBE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62355" cy="2504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3295167">
            <a:off x="1049373" y="-286234"/>
            <a:ext cx="3755836" cy="5351579"/>
          </a:xfrm>
          <a:custGeom>
            <a:avLst/>
            <a:gdLst/>
            <a:ahLst/>
            <a:cxnLst/>
            <a:rect r="r" b="b" t="t" l="l"/>
            <a:pathLst>
              <a:path h="5351579" w="3755836">
                <a:moveTo>
                  <a:pt x="3755836" y="0"/>
                </a:moveTo>
                <a:lnTo>
                  <a:pt x="0" y="0"/>
                </a:lnTo>
                <a:lnTo>
                  <a:pt x="0" y="5351579"/>
                </a:lnTo>
                <a:lnTo>
                  <a:pt x="3755836" y="5351579"/>
                </a:lnTo>
                <a:lnTo>
                  <a:pt x="37558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72568">
            <a:off x="15091941" y="6269992"/>
            <a:ext cx="2423078" cy="5417451"/>
          </a:xfrm>
          <a:custGeom>
            <a:avLst/>
            <a:gdLst/>
            <a:ahLst/>
            <a:cxnLst/>
            <a:rect r="r" b="b" t="t" l="l"/>
            <a:pathLst>
              <a:path h="5417451" w="2423078">
                <a:moveTo>
                  <a:pt x="0" y="0"/>
                </a:moveTo>
                <a:lnTo>
                  <a:pt x="2423078" y="0"/>
                </a:lnTo>
                <a:lnTo>
                  <a:pt x="2423078" y="5417451"/>
                </a:lnTo>
                <a:lnTo>
                  <a:pt x="0" y="54174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27877" y="7810902"/>
            <a:ext cx="3142196" cy="1776769"/>
          </a:xfrm>
          <a:custGeom>
            <a:avLst/>
            <a:gdLst/>
            <a:ahLst/>
            <a:cxnLst/>
            <a:rect r="r" b="b" t="t" l="l"/>
            <a:pathLst>
              <a:path h="1776769" w="3142196">
                <a:moveTo>
                  <a:pt x="0" y="0"/>
                </a:moveTo>
                <a:lnTo>
                  <a:pt x="3142196" y="0"/>
                </a:lnTo>
                <a:lnTo>
                  <a:pt x="3142196" y="1776770"/>
                </a:lnTo>
                <a:lnTo>
                  <a:pt x="0" y="1776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373457">
            <a:off x="14924753" y="3687420"/>
            <a:ext cx="3142196" cy="1776769"/>
          </a:xfrm>
          <a:custGeom>
            <a:avLst/>
            <a:gdLst/>
            <a:ahLst/>
            <a:cxnLst/>
            <a:rect r="r" b="b" t="t" l="l"/>
            <a:pathLst>
              <a:path h="1776769" w="3142196">
                <a:moveTo>
                  <a:pt x="3142196" y="0"/>
                </a:moveTo>
                <a:lnTo>
                  <a:pt x="0" y="0"/>
                </a:lnTo>
                <a:lnTo>
                  <a:pt x="0" y="1776769"/>
                </a:lnTo>
                <a:lnTo>
                  <a:pt x="3142196" y="1776769"/>
                </a:lnTo>
                <a:lnTo>
                  <a:pt x="314219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86976">
            <a:off x="-637005" y="4547112"/>
            <a:ext cx="4613671" cy="4613671"/>
          </a:xfrm>
          <a:custGeom>
            <a:avLst/>
            <a:gdLst/>
            <a:ahLst/>
            <a:cxnLst/>
            <a:rect r="r" b="b" t="t" l="l"/>
            <a:pathLst>
              <a:path h="4613671" w="4613671">
                <a:moveTo>
                  <a:pt x="0" y="0"/>
                </a:moveTo>
                <a:lnTo>
                  <a:pt x="4613671" y="0"/>
                </a:lnTo>
                <a:lnTo>
                  <a:pt x="4613671" y="4613671"/>
                </a:lnTo>
                <a:lnTo>
                  <a:pt x="0" y="46136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826676">
            <a:off x="13569266" y="882915"/>
            <a:ext cx="3333290" cy="2315121"/>
          </a:xfrm>
          <a:custGeom>
            <a:avLst/>
            <a:gdLst/>
            <a:ahLst/>
            <a:cxnLst/>
            <a:rect r="r" b="b" t="t" l="l"/>
            <a:pathLst>
              <a:path h="2315121" w="3333290">
                <a:moveTo>
                  <a:pt x="0" y="0"/>
                </a:moveTo>
                <a:lnTo>
                  <a:pt x="3333290" y="0"/>
                </a:lnTo>
                <a:lnTo>
                  <a:pt x="3333290" y="2315122"/>
                </a:lnTo>
                <a:lnTo>
                  <a:pt x="0" y="23151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86345" y="1365915"/>
            <a:ext cx="297811" cy="297811"/>
          </a:xfrm>
          <a:custGeom>
            <a:avLst/>
            <a:gdLst/>
            <a:ahLst/>
            <a:cxnLst/>
            <a:rect r="r" b="b" t="t" l="l"/>
            <a:pathLst>
              <a:path h="297811" w="297811">
                <a:moveTo>
                  <a:pt x="0" y="0"/>
                </a:moveTo>
                <a:lnTo>
                  <a:pt x="297812" y="0"/>
                </a:lnTo>
                <a:lnTo>
                  <a:pt x="297812" y="297812"/>
                </a:lnTo>
                <a:lnTo>
                  <a:pt x="0" y="2978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948993" y="3349250"/>
            <a:ext cx="10390013" cy="431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63"/>
              </a:lnSpc>
            </a:pPr>
            <a:r>
              <a:rPr lang="en-US" b="true" sz="14705">
                <a:solidFill>
                  <a:srgbClr val="000012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MUCHAS 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DAHX9WVK4Tc</dc:identifier>
  <dcterms:modified xsi:type="dcterms:W3CDTF">2011-08-01T06:04:30Z</dcterms:modified>
  <cp:revision>1</cp:revision>
  <dc:title>Contenido</dc:title>
</cp:coreProperties>
</file>